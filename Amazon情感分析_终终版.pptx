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84" r:id="rId3"/>
    <p:sldId id="257" r:id="rId4"/>
    <p:sldId id="285" r:id="rId5"/>
    <p:sldId id="258" r:id="rId6"/>
    <p:sldId id="259" r:id="rId7"/>
    <p:sldId id="287" r:id="rId8"/>
    <p:sldId id="260" r:id="rId9"/>
    <p:sldId id="281" r:id="rId10"/>
    <p:sldId id="282" r:id="rId11"/>
    <p:sldId id="283" r:id="rId12"/>
    <p:sldId id="261" r:id="rId13"/>
    <p:sldId id="263" r:id="rId14"/>
    <p:sldId id="262" r:id="rId15"/>
    <p:sldId id="291" r:id="rId16"/>
    <p:sldId id="286" r:id="rId17"/>
    <p:sldId id="264" r:id="rId18"/>
    <p:sldId id="265" r:id="rId19"/>
    <p:sldId id="266" r:id="rId20"/>
    <p:sldId id="299" r:id="rId21"/>
    <p:sldId id="267" r:id="rId22"/>
    <p:sldId id="288" r:id="rId23"/>
    <p:sldId id="268" r:id="rId24"/>
    <p:sldId id="269" r:id="rId25"/>
    <p:sldId id="292" r:id="rId26"/>
    <p:sldId id="293" r:id="rId27"/>
    <p:sldId id="296" r:id="rId28"/>
    <p:sldId id="294" r:id="rId29"/>
    <p:sldId id="295" r:id="rId30"/>
    <p:sldId id="270" r:id="rId31"/>
    <p:sldId id="271" r:id="rId32"/>
    <p:sldId id="297" r:id="rId33"/>
    <p:sldId id="298" r:id="rId34"/>
    <p:sldId id="272" r:id="rId35"/>
    <p:sldId id="289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9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6BCAE-3197-48FA-873A-AD4755A3129A}" v="11" dt="2026-09-22T08:46:02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59" autoAdjust="0"/>
  </p:normalViewPr>
  <p:slideViewPr>
    <p:cSldViewPr snapToGrid="0">
      <p:cViewPr varScale="1">
        <p:scale>
          <a:sx n="101" d="100"/>
          <a:sy n="101" d="100"/>
        </p:scale>
        <p:origin x="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心而行 任" userId="312dd7cd9423e9ac" providerId="LiveId" clId="{1525E670-7901-4C91-AA1D-AAAC6CE1F106}"/>
    <pc:docChg chg="undo custSel addSld modSld sldOrd">
      <pc:chgData name="心而行 任" userId="312dd7cd9423e9ac" providerId="LiveId" clId="{1525E670-7901-4C91-AA1D-AAAC6CE1F106}" dt="2026-09-22T08:48:33.437" v="143" actId="478"/>
      <pc:docMkLst>
        <pc:docMk/>
      </pc:docMkLst>
      <pc:sldChg chg="addSp delSp modSp mod">
        <pc:chgData name="心而行 任" userId="312dd7cd9423e9ac" providerId="LiveId" clId="{1525E670-7901-4C91-AA1D-AAAC6CE1F106}" dt="2026-09-22T08:46:06.284" v="141" actId="20577"/>
        <pc:sldMkLst>
          <pc:docMk/>
          <pc:sldMk cId="115857840" sldId="261"/>
        </pc:sldMkLst>
        <pc:spChg chg="mod">
          <ac:chgData name="心而行 任" userId="312dd7cd9423e9ac" providerId="LiveId" clId="{1525E670-7901-4C91-AA1D-AAAC6CE1F106}" dt="2026-09-22T08:46:06.284" v="141" actId="20577"/>
          <ac:spMkLst>
            <pc:docMk/>
            <pc:sldMk cId="115857840" sldId="261"/>
            <ac:spMk id="5" creationId="{BAF7167E-56B6-4BAD-9EEB-FA4A59F30763}"/>
          </ac:spMkLst>
        </pc:spChg>
        <pc:picChg chg="mod">
          <ac:chgData name="心而行 任" userId="312dd7cd9423e9ac" providerId="LiveId" clId="{1525E670-7901-4C91-AA1D-AAAC6CE1F106}" dt="2026-09-22T08:21:25.827" v="6" actId="1076"/>
          <ac:picMkLst>
            <pc:docMk/>
            <pc:sldMk cId="115857840" sldId="261"/>
            <ac:picMk id="12" creationId="{00000000-0000-0000-0000-000000000000}"/>
          </ac:picMkLst>
        </pc:picChg>
        <pc:picChg chg="add del mod">
          <ac:chgData name="心而行 任" userId="312dd7cd9423e9ac" providerId="LiveId" clId="{1525E670-7901-4C91-AA1D-AAAC6CE1F106}" dt="2026-09-22T08:22:28.229" v="9" actId="21"/>
          <ac:picMkLst>
            <pc:docMk/>
            <pc:sldMk cId="115857840" sldId="261"/>
            <ac:picMk id="13" creationId="{496D63CA-45FB-3456-488C-F787DB1B55E4}"/>
          </ac:picMkLst>
        </pc:picChg>
      </pc:sldChg>
      <pc:sldChg chg="delSp mod">
        <pc:chgData name="心而行 任" userId="312dd7cd9423e9ac" providerId="LiveId" clId="{1525E670-7901-4C91-AA1D-AAAC6CE1F106}" dt="2026-09-22T08:48:33.437" v="143" actId="478"/>
        <pc:sldMkLst>
          <pc:docMk/>
          <pc:sldMk cId="1396197468" sldId="262"/>
        </pc:sldMkLst>
        <pc:picChg chg="del">
          <ac:chgData name="心而行 任" userId="312dd7cd9423e9ac" providerId="LiveId" clId="{1525E670-7901-4C91-AA1D-AAAC6CE1F106}" dt="2026-09-22T08:48:33.437" v="143" actId="478"/>
          <ac:picMkLst>
            <pc:docMk/>
            <pc:sldMk cId="1396197468" sldId="262"/>
            <ac:picMk id="11" creationId="{00000000-0000-0000-0000-000000000000}"/>
          </ac:picMkLst>
        </pc:picChg>
      </pc:sldChg>
      <pc:sldChg chg="addSp modSp new mod ord">
        <pc:chgData name="心而行 任" userId="312dd7cd9423e9ac" providerId="LiveId" clId="{1525E670-7901-4C91-AA1D-AAAC6CE1F106}" dt="2026-09-22T08:40:27.478" v="104" actId="1076"/>
        <pc:sldMkLst>
          <pc:docMk/>
          <pc:sldMk cId="1853475175" sldId="281"/>
        </pc:sldMkLst>
        <pc:spChg chg="add mod">
          <ac:chgData name="心而行 任" userId="312dd7cd9423e9ac" providerId="LiveId" clId="{1525E670-7901-4C91-AA1D-AAAC6CE1F106}" dt="2026-09-22T08:38:37.562" v="87" actId="1076"/>
          <ac:spMkLst>
            <pc:docMk/>
            <pc:sldMk cId="1853475175" sldId="281"/>
            <ac:spMk id="3" creationId="{7079645D-1814-65E5-F7EB-5B13164F59DF}"/>
          </ac:spMkLst>
        </pc:spChg>
        <pc:spChg chg="add mod">
          <ac:chgData name="心而行 任" userId="312dd7cd9423e9ac" providerId="LiveId" clId="{1525E670-7901-4C91-AA1D-AAAC6CE1F106}" dt="2026-09-22T08:38:40.442" v="88" actId="1076"/>
          <ac:spMkLst>
            <pc:docMk/>
            <pc:sldMk cId="1853475175" sldId="281"/>
            <ac:spMk id="5" creationId="{81922659-6CF3-5249-2898-DCE5354A4333}"/>
          </ac:spMkLst>
        </pc:spChg>
        <pc:spChg chg="add mod">
          <ac:chgData name="心而行 任" userId="312dd7cd9423e9ac" providerId="LiveId" clId="{1525E670-7901-4C91-AA1D-AAAC6CE1F106}" dt="2026-09-22T08:38:48.278" v="90" actId="1076"/>
          <ac:spMkLst>
            <pc:docMk/>
            <pc:sldMk cId="1853475175" sldId="281"/>
            <ac:spMk id="8" creationId="{C3784907-9B48-F9F1-5A89-C7FF8ABABA20}"/>
          </ac:spMkLst>
        </pc:spChg>
        <pc:spChg chg="add">
          <ac:chgData name="心而行 任" userId="312dd7cd9423e9ac" providerId="LiveId" clId="{1525E670-7901-4C91-AA1D-AAAC6CE1F106}" dt="2026-09-22T08:38:33.461" v="86" actId="22"/>
          <ac:spMkLst>
            <pc:docMk/>
            <pc:sldMk cId="1853475175" sldId="281"/>
            <ac:spMk id="14" creationId="{57A73F50-32B0-55CE-4869-0E98D8B8F61E}"/>
          </ac:spMkLst>
        </pc:spChg>
        <pc:picChg chg="add mod">
          <ac:chgData name="心而行 任" userId="312dd7cd9423e9ac" providerId="LiveId" clId="{1525E670-7901-4C91-AA1D-AAAC6CE1F106}" dt="2026-09-22T08:37:55.526" v="81" actId="1076"/>
          <ac:picMkLst>
            <pc:docMk/>
            <pc:sldMk cId="1853475175" sldId="281"/>
            <ac:picMk id="7" creationId="{A37F3E64-56F8-946A-3179-A6EE9EE73BB9}"/>
          </ac:picMkLst>
        </pc:picChg>
        <pc:picChg chg="add mod">
          <ac:chgData name="心而行 任" userId="312dd7cd9423e9ac" providerId="LiveId" clId="{1525E670-7901-4C91-AA1D-AAAC6CE1F106}" dt="2026-09-22T08:40:27.478" v="104" actId="1076"/>
          <ac:picMkLst>
            <pc:docMk/>
            <pc:sldMk cId="1853475175" sldId="281"/>
            <ac:picMk id="10" creationId="{6767CC9B-7483-A1C1-4C64-B5D052903537}"/>
          </ac:picMkLst>
        </pc:picChg>
        <pc:picChg chg="add mod">
          <ac:chgData name="心而行 任" userId="312dd7cd9423e9ac" providerId="LiveId" clId="{1525E670-7901-4C91-AA1D-AAAC6CE1F106}" dt="2026-09-22T08:40:22.810" v="103" actId="1076"/>
          <ac:picMkLst>
            <pc:docMk/>
            <pc:sldMk cId="1853475175" sldId="281"/>
            <ac:picMk id="12" creationId="{5F85581B-B626-115F-F63E-E1608E26DD08}"/>
          </ac:picMkLst>
        </pc:picChg>
      </pc:sldChg>
      <pc:sldChg chg="addSp delSp modSp new mod">
        <pc:chgData name="心而行 任" userId="312dd7cd9423e9ac" providerId="LiveId" clId="{1525E670-7901-4C91-AA1D-AAAC6CE1F106}" dt="2026-09-22T08:46:18.784" v="142" actId="1076"/>
        <pc:sldMkLst>
          <pc:docMk/>
          <pc:sldMk cId="86601280" sldId="282"/>
        </pc:sldMkLst>
        <pc:spChg chg="add del">
          <ac:chgData name="心而行 任" userId="312dd7cd9423e9ac" providerId="LiveId" clId="{1525E670-7901-4C91-AA1D-AAAC6CE1F106}" dt="2026-09-22T08:39:02.147" v="92" actId="478"/>
          <ac:spMkLst>
            <pc:docMk/>
            <pc:sldMk cId="86601280" sldId="282"/>
            <ac:spMk id="3" creationId="{564387C3-D01A-0CD3-BFA7-71AB03D1EA92}"/>
          </ac:spMkLst>
        </pc:spChg>
        <pc:spChg chg="add">
          <ac:chgData name="心而行 任" userId="312dd7cd9423e9ac" providerId="LiveId" clId="{1525E670-7901-4C91-AA1D-AAAC6CE1F106}" dt="2026-09-22T08:38:57.002" v="91" actId="22"/>
          <ac:spMkLst>
            <pc:docMk/>
            <pc:sldMk cId="86601280" sldId="282"/>
            <ac:spMk id="5" creationId="{B51A4588-49BE-E29E-ADF0-AC80FD07A5FD}"/>
          </ac:spMkLst>
        </pc:spChg>
        <pc:spChg chg="add">
          <ac:chgData name="心而行 任" userId="312dd7cd9423e9ac" providerId="LiveId" clId="{1525E670-7901-4C91-AA1D-AAAC6CE1F106}" dt="2026-09-22T08:39:06.740" v="93" actId="22"/>
          <ac:spMkLst>
            <pc:docMk/>
            <pc:sldMk cId="86601280" sldId="282"/>
            <ac:spMk id="7" creationId="{517181DD-8D84-01C4-F7BB-93BCDEA4797B}"/>
          </ac:spMkLst>
        </pc:spChg>
        <pc:spChg chg="add del mod">
          <ac:chgData name="心而行 任" userId="312dd7cd9423e9ac" providerId="LiveId" clId="{1525E670-7901-4C91-AA1D-AAAC6CE1F106}" dt="2026-09-22T08:40:44.912" v="114"/>
          <ac:spMkLst>
            <pc:docMk/>
            <pc:sldMk cId="86601280" sldId="282"/>
            <ac:spMk id="9" creationId="{9CFE9572-C58E-4398-239C-E2D6E9AA596D}"/>
          </ac:spMkLst>
        </pc:spChg>
        <pc:spChg chg="add del mod">
          <ac:chgData name="心而行 任" userId="312dd7cd9423e9ac" providerId="LiveId" clId="{1525E670-7901-4C91-AA1D-AAAC6CE1F106}" dt="2026-09-22T08:40:35.246" v="107"/>
          <ac:spMkLst>
            <pc:docMk/>
            <pc:sldMk cId="86601280" sldId="282"/>
            <ac:spMk id="11" creationId="{C1B9D367-7ECB-13AE-8D46-8861412E4D23}"/>
          </ac:spMkLst>
        </pc:spChg>
        <pc:spChg chg="add mod">
          <ac:chgData name="心而行 任" userId="312dd7cd9423e9ac" providerId="LiveId" clId="{1525E670-7901-4C91-AA1D-AAAC6CE1F106}" dt="2026-09-22T08:40:42.058" v="111"/>
          <ac:spMkLst>
            <pc:docMk/>
            <pc:sldMk cId="86601280" sldId="282"/>
            <ac:spMk id="13" creationId="{79A828AF-4CE6-0132-619F-02BE9D0BC28D}"/>
          </ac:spMkLst>
        </pc:spChg>
        <pc:spChg chg="add mod">
          <ac:chgData name="心而行 任" userId="312dd7cd9423e9ac" providerId="LiveId" clId="{1525E670-7901-4C91-AA1D-AAAC6CE1F106}" dt="2026-09-22T08:40:54.183" v="115"/>
          <ac:spMkLst>
            <pc:docMk/>
            <pc:sldMk cId="86601280" sldId="282"/>
            <ac:spMk id="15" creationId="{5CB60F24-40C4-45AC-3083-33E47577F2DF}"/>
          </ac:spMkLst>
        </pc:spChg>
        <pc:picChg chg="add mod">
          <ac:chgData name="心而行 任" userId="312dd7cd9423e9ac" providerId="LiveId" clId="{1525E670-7901-4C91-AA1D-AAAC6CE1F106}" dt="2026-09-22T08:46:18.784" v="142" actId="1076"/>
          <ac:picMkLst>
            <pc:docMk/>
            <pc:sldMk cId="86601280" sldId="282"/>
            <ac:picMk id="17" creationId="{258F8927-2843-1B86-00FC-79DA640A6269}"/>
          </ac:picMkLst>
        </pc:picChg>
        <pc:picChg chg="add mod">
          <ac:chgData name="心而行 任" userId="312dd7cd9423e9ac" providerId="LiveId" clId="{1525E670-7901-4C91-AA1D-AAAC6CE1F106}" dt="2026-09-22T08:42:15.980" v="122" actId="1076"/>
          <ac:picMkLst>
            <pc:docMk/>
            <pc:sldMk cId="86601280" sldId="282"/>
            <ac:picMk id="19" creationId="{46656F85-348F-67DF-D889-DE4F62E0206C}"/>
          </ac:picMkLst>
        </pc:picChg>
      </pc:sldChg>
      <pc:sldChg chg="addSp modSp new mod">
        <pc:chgData name="心而行 任" userId="312dd7cd9423e9ac" providerId="LiveId" clId="{1525E670-7901-4C91-AA1D-AAAC6CE1F106}" dt="2026-09-22T08:45:43.544" v="135" actId="1076"/>
        <pc:sldMkLst>
          <pc:docMk/>
          <pc:sldMk cId="4218341539" sldId="283"/>
        </pc:sldMkLst>
        <pc:spChg chg="add">
          <ac:chgData name="心而行 任" userId="312dd7cd9423e9ac" providerId="LiveId" clId="{1525E670-7901-4C91-AA1D-AAAC6CE1F106}" dt="2026-09-22T08:39:16.521" v="95" actId="22"/>
          <ac:spMkLst>
            <pc:docMk/>
            <pc:sldMk cId="4218341539" sldId="283"/>
            <ac:spMk id="3" creationId="{D712822A-10D1-0DA7-0C79-B576439A230B}"/>
          </ac:spMkLst>
        </pc:spChg>
        <pc:spChg chg="add">
          <ac:chgData name="心而行 任" userId="312dd7cd9423e9ac" providerId="LiveId" clId="{1525E670-7901-4C91-AA1D-AAAC6CE1F106}" dt="2026-09-22T08:39:21.526" v="96" actId="22"/>
          <ac:spMkLst>
            <pc:docMk/>
            <pc:sldMk cId="4218341539" sldId="283"/>
            <ac:spMk id="5" creationId="{11E6019E-F1F0-4B34-EC4D-E4063B7D9A9B}"/>
          </ac:spMkLst>
        </pc:spChg>
        <pc:spChg chg="add mod">
          <ac:chgData name="心而行 任" userId="312dd7cd9423e9ac" providerId="LiveId" clId="{1525E670-7901-4C91-AA1D-AAAC6CE1F106}" dt="2026-09-22T08:42:51.668" v="126" actId="20577"/>
          <ac:spMkLst>
            <pc:docMk/>
            <pc:sldMk cId="4218341539" sldId="283"/>
            <ac:spMk id="7" creationId="{8F6FF97B-9726-4854-5901-B6807584E024}"/>
          </ac:spMkLst>
        </pc:spChg>
        <pc:spChg chg="add mod">
          <ac:chgData name="心而行 任" userId="312dd7cd9423e9ac" providerId="LiveId" clId="{1525E670-7901-4C91-AA1D-AAAC6CE1F106}" dt="2026-09-22T08:43:12.942" v="130" actId="1076"/>
          <ac:spMkLst>
            <pc:docMk/>
            <pc:sldMk cId="4218341539" sldId="283"/>
            <ac:spMk id="9" creationId="{9E730AA8-7935-E2D7-5E9D-0B8031E50C42}"/>
          </ac:spMkLst>
        </pc:spChg>
        <pc:picChg chg="add mod">
          <ac:chgData name="心而行 任" userId="312dd7cd9423e9ac" providerId="LiveId" clId="{1525E670-7901-4C91-AA1D-AAAC6CE1F106}" dt="2026-09-22T08:45:41.741" v="134" actId="1076"/>
          <ac:picMkLst>
            <pc:docMk/>
            <pc:sldMk cId="4218341539" sldId="283"/>
            <ac:picMk id="11" creationId="{E745AD0B-8B88-36D7-570B-E4AF05FD550A}"/>
          </ac:picMkLst>
        </pc:picChg>
        <pc:picChg chg="add mod">
          <ac:chgData name="心而行 任" userId="312dd7cd9423e9ac" providerId="LiveId" clId="{1525E670-7901-4C91-AA1D-AAAC6CE1F106}" dt="2026-09-22T08:45:43.544" v="135" actId="1076"/>
          <ac:picMkLst>
            <pc:docMk/>
            <pc:sldMk cId="4218341539" sldId="283"/>
            <ac:picMk id="13" creationId="{51E3C7E5-04E2-6AF4-BBC7-F4FAECBF56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本项目基于 Amazon Polarity 英文评论完成积极/消极二分类。汇报按代码执行顺序组织为四部分：数据认识与文本预处理，文本向量化，模型训练与评价，复杂语言与附加特征改进。重点解释每一环节为什么存在、采用什么技术、输出怎样进入下一环节。封面使用用户提供的 cover_bg.png。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实际编号为模块1至5，其中模块1的数据认识与模块2的文本预处理共同构成第一部分。因此四部分结构保持代码原顺序，没有跳过任何技术模块。这里按四位成员顺序给出建议分工与讲解安排，并非对已发生贡献的认定。组内共同复核数据口径、实验条件与结论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数据源为 Kaggle 的 Amazon Reviews for Sentiment Analysis，也称 Amazon Polarity。原文件 train.ft.txt.bz2 与 test.ft.txt.bz2 分别包含360万和40万评论。代码用 bz2.open 解压读取，将 __label__1 解析为消极0，将 __label__2 解析为积极1，保留后续评论文本。官方两套分区分别随机抽样，不重新混合分区。抽样规模是计算预算选择，不代表对完整数据集的训练。网址：https://www.kaggle.com/datasets/bittlingmayer/amazonreviews。</a:t>
            </a:r>
          </a:p>
          <a:p>
            <a:endParaRPr/>
          </a:p>
          <a:p>
            <a:r>
              <a:t>资料来源：用户 Notebook 模块1-0、解析与抽样单元，Kaggle 页面截图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先检查数据类型、缺失、重复、标签分布和长度分布，才能决定是否需要填补、去重、类别加权或长度处理。原图来自 Notebook 模块1-B。训练集中消极99980条、积极100020条，测试集中19991与20009条。训练平均词数78.5，消极81.6、积极75.4。当前质量检查只验证训练样本内部，不能据此断言训练与测试间不存在重复。长度差异属于描述性现象，不能解释为情感因果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原图以 This product is not good 为例说明单个正向词无法决定整句情感。技术上先用规则处理缩写、网页标签、网址和符号，再分词、去停用词并做带词性信息的词形还原。这里的核心取舍是减少格式差异，同时保护情感极性所依赖的否定信息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代码从NLTK的198个英语停用词中排除否定集合，得到179个待删除词。缩写规则先处理 won’t、can’t 等特殊形式，再处理通用 n’t，避免不完整残词。word_tokenize 分词后，通过 pos_tag 将形容词、名词、动词、副词映射到WordNet词性，再调用WordNetLemmatizer。迁移到中文时这些英语资源必须替换，不能只改数据路径。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部分不只是文本清洗算法，也包含可重复执行的工程设计。process_dataframe将每批处理结果存盘，再运行时从已有行数续接。复用缓存的前提是数据顺序与处理配置保持一致，规则或输入变化后应重建缓存。标准接口是原始评论、标签、清洗文本三列，下一部分直接消费clean_review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清洗后平均词数从78.5下降到41.0，减少约47.8%。原图同时展示not、no、never在不同情感中的出现次数，说明代码确实保留了否定词。词频只是描述性证据，不是某个词的独立预测贡献。文本更短并不能证明分类效果更好，严格论证仍需原文与不同清洗组合的对照实验。</a:t>
            </a:r>
          </a:p>
          <a:p>
            <a:endParaRPr/>
          </a:p>
          <a:p>
            <a:r>
              <a:t>资料来源：图表包 05 文本清洗效果，Notebook 模块2-D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词袋记录词出现次数，TF-IDF结合文档内词频与跨文档稀有度，默认还进行L2归一化。原图例子第二句话not出现两次，Count为2，TF-IDF约0.579。这个两句示例中not出现在全部文档，IDF=1，不能将其权重解释为在语料中稀有。页面保留原图左侧数据面板，右侧重新解释机制。实际全量代码另设置sublinear_tf=True，对词频做对数压缩。</a:t>
            </a:r>
          </a:p>
          <a:p>
            <a:endParaRPr/>
          </a:p>
          <a:p>
            <a:r>
              <a:t>资料来源：图表包 06 词袋vsTFIDF 左侧面板，Notebook 模块3-A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代码注释提到词嵌入，但实际执行的三个方案是词袋、TF-IDF unigram、TF-IDF unigram+bigram，因此汇报只呈现真实完成的技术。max_features限制特征数以控制成本，min_df过滤极低频项，sublinear_tf缓和词频过大。单词TF-IDF产生46470维，另外两种50000维。三种方案不只是单一参数不同，因此只能解释为方案级对照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种表示在同一朴素贝叶斯模型上的积极类F1依次为0.8448、0.8392、0.8815。双词TF-IDF相对单词TF-IDF提高0.0423，即4.23个百分点。词表中共包含982个以not开头的双词组合。bigram对应清洗后相邻词，并不等于完整语义理解。这一轮用测试结果参与方案选择，后续需要在训练内部验证集选择，再用未参与选择的数据进行最终评估。</a:t>
            </a:r>
          </a:p>
          <a:p>
            <a:endParaRPr/>
          </a:p>
          <a:p>
            <a:r>
              <a:t>资料来源：用户提供 tfidf.png，Notebook 模块3-B、3-C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万乘5万共有100亿个矩阵位置，其中只有约902万个非零项，稀疏存储可避免存储大量零值。sparse.save_npz保存矩阵，joblib.dump保存向量化器。词表与IDF只由训练集学习，测试集仅转换，避免将测试词频带入训练。当前做法对固定训练/测试切分成立，但在交叉验证内部还需让向量化器随每折重新fit，第三部分会说明。迁移复用的是流程与接口，新领域通常需要重建词表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择四类模型是为了回答不同问题，而不是简单堆叠算法。NB是计算便宜的概率基线，LR是线性概率分类器，LinearSVC比较最大间隔分类，MLP检验非线性容量。全部输入为TF-IDF单词+双词。NB/LR/SVM在6万样本上搜索后用20万重训。MLP使用6万样本、hidden_layer_sizes=(50,)、batch_size=512、max_iter=15、early_stopping=True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先在训练集的6万条分层子集上执行3折交叉验证，减少全量网格搜索成本。NB alpha候选0.01、0.1、0.5、1，LR C候选0.5、1、2、5，SVM C候选0.1、0.5、1、2。选定后前三种模型在20万条训练集上重训，再对固定4万测试集预测。为避免把数据量优势错判成模型优势，补充了6万条LR与MLP对照。但MLP含内部早停验证且调参预算不同，仍非完全等条件比较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原图同时呈现效果和耗时。20万训练的LR F1=0.9135、LinearSVC=0.9120、NB=0.8815。6万LR=0.9047、MLP=0.9038。训练耗时分别为5.6、11.6、0.2、1.1、173秒。不能将所有时间直接视为完全等样本对照，也不能把图题中的三个数量级泛化为对所有线性模型的结论。当前记录支持将LR作为后续候选基线，尚未给出统计显著性。</a:t>
            </a:r>
          </a:p>
          <a:p>
            <a:endParaRPr/>
          </a:p>
          <a:p>
            <a:r>
              <a:t>资料来源：图表包 08 模型对比，Notebook 模块4-C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对照的关键是把训练数据量固定为同一6万条子集。LR积极类F1为0.9047，MLP为0.9038，差距很小且未经显著性验证。时间是1.1秒与173秒，比例约157，但数据预处理和向量化不含在内。原图采用强表述，讲解时限定为本次配置在当前预算下没有显示出额外收益，不概括为深度学习普遍失效。</a:t>
            </a:r>
          </a:p>
          <a:p>
            <a:endParaRPr/>
          </a:p>
          <a:p>
            <a:r>
              <a:t>资料来源：用户提供 dl_loses.png，Notebook 模块4-C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Notebook真实输出混淆矩阵：实际消极中18193判对、1798判错；实际积极中1676误报、18333判对。消极召回率=18193/19991=91.01%，消极精确率=18193/(18193+1676)=91.56%。差评预警业务关心漏掉多少差评和复核队列里多少是真差评，这与默认积极类F1不是同一口径。页面展示原始三联图右侧面板，没有改动矩阵内容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模型比较结束后，代码用VADER演示反讽、让步与否定的困难。示例本意是否定，但great、well done、brilliant等正向词可能让规则方法判断为积极。由此提出附加词典与结构特征能否补充TF-IDF的假设，再用固定模型做消融。这一顺序是问题识别、提出假设、实验验证，不是看到特征可用就全部加入。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DER输出neg、neu、pos、compound四维；结构特征包含n_char、n_word、avg_word_len、n_exclaim、n_question、upper_ratio、n_digit七维。它们必须从原始review提取，因为clean_review已经去掉数字、标点和大小写差异。新增连续特征使用StandardScaler，在训练集fit_transform、测试集transform，再转为CSR与TF-IDF进行sparse.hstack。特征计算保存CSV缓存，减少重复耗时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固定LR C=1，对比仅TF-IDF、加VADER、加结构、加全部四种方案。积极类F1显示为0.9118、0.9111、0.9132、0.9127。原图增量是四位小数相减，与Notebook使用未舍入原数得到的+0.0013和-0.0008有细小差别，故正文只报告方向和显示分数。结构训练时间25.5秒，基线2.0秒；额外收益也需要与成本比较。图中文字将词典冗余作为解释，但代码未直接验证冗余原因，只能当作待验证假设。</a:t>
            </a:r>
          </a:p>
          <a:p>
            <a:endParaRPr/>
          </a:p>
          <a:p>
            <a:r>
              <a:t>资料来源：图表包 10 特征增强效果，Notebook 模块5-C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用正则匹配but/however/although/though、引号、大写词、否定加正面词、感叹号等表达。含转折子集16567条，准确率88.98%，比整体91.16%低2.18个百分点。VADER判断错误的11310条中，LR准确率82.47%，其他样本94.58%。这些子集还能存在长度、主题、标签质量等差异，因此错误分析用于筛选复核方向，并不构成表达方式导致模型失误的因果证据。原图百分号所示差值应读作百分点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错误分析最终应交付可操作的复核队列，而不是只给一个平均分。代码找到117条置信度超过95%的错误、20条超过99%的错误。但高置信错误可能来自模型盲点或混合情感，不能直接给出标签噪声的结论。后续可人工标注混合评价、产品质量与物流方面，比较更能表达上下文的特征，仍应使用独立评估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部分的通用性分别体现为质量检查与处理接口、特征对照与稀疏表示、模型比较与评价设计、错误分析与消融。英文酒店评论可能沿用多数英语清洗资源但需要新领域词表；中文电商需要改分词或采用字级特征，英语WordNet与VADER不能直接套用。投诉主题分类还涉及标签任务变化。当前只能主张流程可复用，不能主张已验证跨域效果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沿四部分顺序收束：数据处理建立可复用接口；向量化对照确定本次TF-IDF单词双词候选；多模型实验支持将LR作为后续基线；消融和错误分析帮助识别结构特征与复杂表达问题。下一步先用严格Pipeline和独立数据评估，再扩展到目标场景。现有实验未证明统计显著性、跨域泛化或上线商业收益。</a:t>
            </a:r>
          </a:p>
          <a:p>
            <a:endParaRPr/>
          </a:p>
          <a:p>
            <a:r>
              <a:t>资料来源：用户提供 Notebook 与图表素材包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842" y="0"/>
            <a:ext cx="12058316" cy="6858000"/>
          </a:xfrm>
          <a:prstGeom prst="rect">
            <a:avLst/>
          </a:prstGeom>
        </p:spPr>
      </p:pic>
      <p:sp>
        <p:nvSpPr>
          <p:cNvPr id="2" name="AMAZON REVIEW SENTIMENT ANALYSIS">
            <a:extLst>
              <a:ext uri="{FF2B5EF4-FFF2-40B4-BE49-F238E27FC236}">
                <a16:creationId xmlns:a16="http://schemas.microsoft.com/office/drawing/2014/main" id="{E6A77277-EAD6-4B22-9F94-6ED6131FFC9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AMAZON REVIEW SENTIMENT ANALYSIS</a:t>
            </a:r>
          </a:p>
        </p:txBody>
      </p:sp>
      <p:sp>
        <p:nvSpPr>
          <p:cNvPr id="3" name="Amazon 产品评论&#10;情感极性分类">
            <a:extLst>
              <a:ext uri="{FF2B5EF4-FFF2-40B4-BE49-F238E27FC236}">
                <a16:creationId xmlns:a16="http://schemas.microsoft.com/office/drawing/2014/main" id="{19F5AE1B-D66C-484C-9628-55124CC50FD7}"/>
              </a:ext>
            </a:extLst>
          </p:cNvPr>
          <p:cNvSpPr>
            <a:spLocks noGrp="1"/>
          </p:cNvSpPr>
          <p:nvPr/>
        </p:nvSpPr>
        <p:spPr>
          <a:xfrm>
            <a:off x="1304925" y="1781175"/>
            <a:ext cx="10048875" cy="1543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Amazon 产品评论</a:t>
            </a:r>
          </a:p>
          <a:p>
            <a:pPr algn="l">
              <a:def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情感极性分类</a:t>
            </a:r>
          </a:p>
        </p:txBody>
      </p:sp>
      <p:sp>
        <p:nvSpPr>
          <p:cNvPr id="4" name="数据处理、特征表示、模型评价与改进分析">
            <a:extLst>
              <a:ext uri="{FF2B5EF4-FFF2-40B4-BE49-F238E27FC236}">
                <a16:creationId xmlns:a16="http://schemas.microsoft.com/office/drawing/2014/main" id="{8F28A911-281C-4071-A993-E39621DB1DA9}"/>
              </a:ext>
            </a:extLst>
          </p:cNvPr>
          <p:cNvSpPr>
            <a:spLocks noGrp="1"/>
          </p:cNvSpPr>
          <p:nvPr/>
        </p:nvSpPr>
        <p:spPr>
          <a:xfrm>
            <a:off x="1323975" y="36385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数据处理、特征表示、模型评价与改进分析</a:t>
            </a:r>
          </a:p>
        </p:txBody>
      </p:sp>
      <p:sp>
        <p:nvSpPr>
          <p:cNvPr id="5" name="李境    陈泰年    杜知远    丛郁欣">
            <a:extLst>
              <a:ext uri="{FF2B5EF4-FFF2-40B4-BE49-F238E27FC236}">
                <a16:creationId xmlns:a16="http://schemas.microsoft.com/office/drawing/2014/main" id="{2B654E2D-E531-4A5E-BE53-349B6643BBD7}"/>
              </a:ext>
            </a:extLst>
          </p:cNvPr>
          <p:cNvSpPr>
            <a:spLocks noGrp="1"/>
          </p:cNvSpPr>
          <p:nvPr/>
        </p:nvSpPr>
        <p:spPr>
          <a:xfrm>
            <a:off x="1323975" y="5476875"/>
            <a:ext cx="90487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李境    陈泰年    杜知远    丛郁欣</a:t>
            </a:r>
          </a:p>
        </p:txBody>
      </p:sp>
      <p:sp>
        <p:nvSpPr>
          <p:cNvPr id="6" name="课程项目汇报">
            <a:extLst>
              <a:ext uri="{FF2B5EF4-FFF2-40B4-BE49-F238E27FC236}">
                <a16:creationId xmlns:a16="http://schemas.microsoft.com/office/drawing/2014/main" id="{144DC2F7-55BC-43A4-9FF9-21B7B7BA7808}"/>
              </a:ext>
            </a:extLst>
          </p:cNvPr>
          <p:cNvSpPr>
            <a:spLocks noGrp="1"/>
          </p:cNvSpPr>
          <p:nvPr/>
        </p:nvSpPr>
        <p:spPr>
          <a:xfrm>
            <a:off x="1323975" y="6019800"/>
            <a:ext cx="7620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课程项目汇报</a:t>
            </a:r>
          </a:p>
        </p:txBody>
      </p:sp>
    </p:spTree>
    <p:extLst>
      <p:ext uri="{BB962C8B-B14F-4D97-AF65-F5344CB8AC3E}">
        <p14:creationId xmlns:p14="http://schemas.microsoft.com/office/powerpoint/2010/main" val="207212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74EBC4-C79A-C796-7149-95E8799A84E6}"/>
              </a:ext>
            </a:extLst>
          </p:cNvPr>
          <p:cNvSpPr txBox="1"/>
          <p:nvPr/>
        </p:nvSpPr>
        <p:spPr>
          <a:xfrm>
            <a:off x="2881962" y="1527397"/>
            <a:ext cx="74563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/>
              <a:t>01 数据</a:t>
            </a:r>
            <a:r>
              <a:rPr lang="zh-CN" altLang="en-US" sz="2000" b="1" dirty="0"/>
              <a:t>介绍</a:t>
            </a:r>
            <a:r>
              <a:rPr lang="en-US" altLang="zh-CN" sz="2000" b="1" dirty="0"/>
              <a:t>      			</a:t>
            </a:r>
            <a:r>
              <a:rPr lang="zh-CN" altLang="zh-CN" sz="1600" dirty="0"/>
              <a:t>数据来源、数据特点与任务目标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endParaRPr lang="zh-CN" altLang="zh-CN" sz="2000" dirty="0"/>
          </a:p>
          <a:p>
            <a:pPr>
              <a:buNone/>
            </a:pPr>
            <a:r>
              <a:rPr lang="zh-CN" altLang="zh-CN" sz="2000" b="1" dirty="0"/>
              <a:t>02 文本预处理</a:t>
            </a:r>
            <a:r>
              <a:rPr lang="en-US" altLang="zh-CN" sz="2000" b="1" dirty="0"/>
              <a:t>      		</a:t>
            </a:r>
            <a:r>
              <a:rPr lang="zh-CN" altLang="zh-CN" sz="1600" dirty="0"/>
              <a:t>文本清洗、分词、停用词、词形还原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endParaRPr lang="zh-CN" altLang="zh-CN" sz="2000" dirty="0"/>
          </a:p>
          <a:p>
            <a:pPr>
              <a:buNone/>
            </a:pPr>
            <a:r>
              <a:rPr lang="zh-CN" altLang="zh-CN" sz="2000" b="1" dirty="0"/>
              <a:t>03 文本向量化</a:t>
            </a:r>
            <a:r>
              <a:rPr lang="en-US" altLang="zh-CN" sz="2000" b="1" dirty="0"/>
              <a:t>   			</a:t>
            </a:r>
            <a:r>
              <a:rPr lang="zh-CN" altLang="zh-CN" sz="1600" dirty="0"/>
              <a:t>BoW、TF-IDF、1-2gram 特征表示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endParaRPr lang="zh-CN" altLang="zh-CN" sz="2000" dirty="0"/>
          </a:p>
          <a:p>
            <a:pPr>
              <a:buNone/>
            </a:pPr>
            <a:r>
              <a:rPr lang="zh-CN" altLang="zh-CN" sz="2000" b="1" dirty="0"/>
              <a:t>04 模型训练与评价</a:t>
            </a:r>
            <a:r>
              <a:rPr lang="en-US" altLang="zh-CN" sz="2000" b="1" dirty="0"/>
              <a:t>		</a:t>
            </a:r>
            <a:r>
              <a:rPr lang="zh-CN" altLang="zh-CN" sz="1600" dirty="0"/>
              <a:t>NB、LR、SVM、MLP 对比与参数优化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endParaRPr lang="zh-CN" altLang="zh-CN" sz="2000" dirty="0"/>
          </a:p>
          <a:p>
            <a:pPr>
              <a:buNone/>
            </a:pPr>
            <a:r>
              <a:rPr lang="zh-CN" altLang="zh-CN" sz="2000" b="1" dirty="0"/>
              <a:t>05 特征增强与错误分析</a:t>
            </a:r>
            <a:r>
              <a:rPr lang="en-US" altLang="zh-CN" sz="2000" b="1" dirty="0"/>
              <a:t>		</a:t>
            </a:r>
            <a:r>
              <a:rPr lang="zh-CN" altLang="zh-CN" sz="1600" dirty="0"/>
              <a:t>VADER、结构特征、消融实验与错误案例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endParaRPr lang="zh-CN" altLang="zh-CN" sz="2000" dirty="0"/>
          </a:p>
          <a:p>
            <a:pPr>
              <a:buNone/>
            </a:pPr>
            <a:r>
              <a:rPr lang="zh-CN" altLang="zh-CN" sz="2000" b="1" dirty="0"/>
              <a:t>06 项目结论</a:t>
            </a:r>
            <a:r>
              <a:rPr lang="en-US" altLang="zh-CN" sz="2000" b="1" dirty="0"/>
              <a:t>			</a:t>
            </a:r>
            <a:r>
              <a:rPr lang="zh-CN" altLang="zh-CN" sz="1600" dirty="0"/>
              <a:t>核心结果、方法总结与后续改进</a:t>
            </a:r>
            <a:endParaRPr lang="zh-CN" altLang="zh-CN" dirty="0"/>
          </a:p>
        </p:txBody>
      </p:sp>
      <p:sp>
        <p:nvSpPr>
          <p:cNvPr id="6" name="四部分技术路线与团队分工">
            <a:extLst>
              <a:ext uri="{FF2B5EF4-FFF2-40B4-BE49-F238E27FC236}">
                <a16:creationId xmlns:a16="http://schemas.microsoft.com/office/drawing/2014/main" id="{E4B28627-0ACC-EBAA-15E3-24FB76B68849}"/>
              </a:ext>
            </a:extLst>
          </p:cNvPr>
          <p:cNvSpPr>
            <a:spLocks noGrp="1"/>
          </p:cNvSpPr>
          <p:nvPr/>
        </p:nvSpPr>
        <p:spPr>
          <a:xfrm>
            <a:off x="5581862" y="307840"/>
            <a:ext cx="10282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目录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42811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项目概览">
            <a:extLst>
              <a:ext uri="{FF2B5EF4-FFF2-40B4-BE49-F238E27FC236}">
                <a16:creationId xmlns:a16="http://schemas.microsoft.com/office/drawing/2014/main" id="{910E2271-EBD5-49C6-898E-E8D14DBCDCEB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项目概览</a:t>
            </a:r>
          </a:p>
        </p:txBody>
      </p:sp>
      <p:sp>
        <p:nvSpPr>
          <p:cNvPr id="2" name="四部分技术路线与团队分工">
            <a:extLst>
              <a:ext uri="{FF2B5EF4-FFF2-40B4-BE49-F238E27FC236}">
                <a16:creationId xmlns:a16="http://schemas.microsoft.com/office/drawing/2014/main" id="{3BE99D63-BAD5-4FC7-AEA1-BC80100D5F40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四部分技术路线与团队分工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28CAFBD8-D683-462A-9101-04C3CDD5F41E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140375968"/>
              </p:ext>
            </p:extLst>
          </p:nvPr>
        </p:nvGraphicFramePr>
        <p:xfrm>
          <a:off x="533400" y="1676400"/>
          <a:ext cx="11125200" cy="34861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汇报部分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代码范围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建议负责人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这一部分回答什么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01 数据与预处理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模块1、2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李境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数据能否支持任务，怎样保留情感信息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02 文本向量化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模块3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50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杜知远</a:t>
                      </a:r>
                      <a:endParaRPr sz="1650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怎样把文本转换为有效的数值特征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03 模型训练与评价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50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陈泰年</a:t>
                      </a:r>
                      <a:endParaRPr sz="1650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哪种模型的效果与计算成本更合适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650" b="1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04 </a:t>
                      </a:r>
                      <a:r>
                        <a:rPr sz="1650" b="1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复杂语言与改进</a:t>
                      </a:r>
                      <a:endParaRPr sz="1650" b="1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模块5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丛郁欣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模型错在哪里，新增特征是否有价值</a:t>
                      </a:r>
                      <a:endParaRPr sz="1650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顺序依据：前一部分的输出，作为后一部分的输入">
            <a:extLst>
              <a:ext uri="{FF2B5EF4-FFF2-40B4-BE49-F238E27FC236}">
                <a16:creationId xmlns:a16="http://schemas.microsoft.com/office/drawing/2014/main" id="{AC2610CD-845E-4CB2-A581-E67567010546}"/>
              </a:ext>
            </a:extLst>
          </p:cNvPr>
          <p:cNvSpPr>
            <a:spLocks noGrp="1"/>
          </p:cNvSpPr>
          <p:nvPr/>
        </p:nvSpPr>
        <p:spPr>
          <a:xfrm>
            <a:off x="533400" y="57245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顺序依据：前一部分的输出，作为后一部分的输入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按四部分提出的分工与汇报安排，实际贡献以团队工作记录为准。">
            <a:extLst>
              <a:ext uri="{FF2B5EF4-FFF2-40B4-BE49-F238E27FC236}">
                <a16:creationId xmlns:a16="http://schemas.microsoft.com/office/drawing/2014/main" id="{73434878-8902-4161-8147-A11B086A690E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6518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ABE54C-BD83-85A0-14BC-8002A167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6841" y="56756"/>
            <a:ext cx="12058316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7C74070-9922-B6FA-9A3F-E533E3C4754E}"/>
              </a:ext>
            </a:extLst>
          </p:cNvPr>
          <p:cNvSpPr txBox="1"/>
          <p:nvPr/>
        </p:nvSpPr>
        <p:spPr>
          <a:xfrm>
            <a:off x="4989167" y="4076631"/>
            <a:ext cx="2628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数据介绍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620681-77BF-049A-5323-9A02EFB88F82}"/>
              </a:ext>
            </a:extLst>
          </p:cNvPr>
          <p:cNvSpPr/>
          <p:nvPr/>
        </p:nvSpPr>
        <p:spPr>
          <a:xfrm>
            <a:off x="4557147" y="1415326"/>
            <a:ext cx="3262433" cy="184665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第一部分</a:t>
            </a:r>
          </a:p>
          <a:p>
            <a:pPr algn="ctr"/>
            <a:endParaRPr lang="zh-CN" alt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34790C-B164-4AAB-8E19-68A1CD7A704A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021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第一部分  数据与预处理">
            <a:extLst>
              <a:ext uri="{FF2B5EF4-FFF2-40B4-BE49-F238E27FC236}">
                <a16:creationId xmlns:a16="http://schemas.microsoft.com/office/drawing/2014/main" id="{800CB76F-BC39-47B4-AA39-6EE47D5EFE76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第一部分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数据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介绍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数据来源与实验范围">
            <a:extLst>
              <a:ext uri="{FF2B5EF4-FFF2-40B4-BE49-F238E27FC236}">
                <a16:creationId xmlns:a16="http://schemas.microsoft.com/office/drawing/2014/main" id="{F3C2CE34-9B63-427A-B374-6736E1CEC6D8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数据来源与实验范围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5B351379-7C26-4573-9399-B4E7A76B6F46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67120" y="1110395"/>
            <a:ext cx="7624880" cy="4832566"/>
          </a:xfrm>
          <a:prstGeom prst="rect">
            <a:avLst/>
          </a:prstGeom>
        </p:spPr>
      </p:pic>
      <p:sp>
        <p:nvSpPr>
          <p:cNvPr id="5" name="400万">
            <a:extLst>
              <a:ext uri="{FF2B5EF4-FFF2-40B4-BE49-F238E27FC236}">
                <a16:creationId xmlns:a16="http://schemas.microsoft.com/office/drawing/2014/main" id="{7365D749-D83C-4D4A-B5AC-E168B1C3739B}"/>
              </a:ext>
            </a:extLst>
          </p:cNvPr>
          <p:cNvSpPr>
            <a:spLocks noGrp="1"/>
          </p:cNvSpPr>
          <p:nvPr/>
        </p:nvSpPr>
        <p:spPr>
          <a:xfrm>
            <a:off x="542925" y="1666133"/>
            <a:ext cx="42862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75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400万</a:t>
            </a:r>
          </a:p>
        </p:txBody>
      </p:sp>
      <p:sp>
        <p:nvSpPr>
          <p:cNvPr id="6" name="原始评论，官方训练/测试划分">
            <a:extLst>
              <a:ext uri="{FF2B5EF4-FFF2-40B4-BE49-F238E27FC236}">
                <a16:creationId xmlns:a16="http://schemas.microsoft.com/office/drawing/2014/main" id="{CC58DAEC-20BB-420A-B824-E6EB6B261CE2}"/>
              </a:ext>
            </a:extLst>
          </p:cNvPr>
          <p:cNvSpPr>
            <a:spLocks noGrp="1"/>
          </p:cNvSpPr>
          <p:nvPr/>
        </p:nvSpPr>
        <p:spPr>
          <a:xfrm>
            <a:off x="533400" y="2554165"/>
            <a:ext cx="417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原始评论，官方训练</a:t>
            </a:r>
            <a:r>
              <a:rPr sz="172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/</a:t>
            </a:r>
            <a:r>
              <a:rPr sz="172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测试划分</a:t>
            </a:r>
            <a:endParaRPr sz="172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24万">
            <a:extLst>
              <a:ext uri="{FF2B5EF4-FFF2-40B4-BE49-F238E27FC236}">
                <a16:creationId xmlns:a16="http://schemas.microsoft.com/office/drawing/2014/main" id="{C27B640F-D73E-4C07-BE06-D840C63C7F4D}"/>
              </a:ext>
            </a:extLst>
          </p:cNvPr>
          <p:cNvSpPr>
            <a:spLocks noGrp="1"/>
          </p:cNvSpPr>
          <p:nvPr/>
        </p:nvSpPr>
        <p:spPr>
          <a:xfrm>
            <a:off x="533400" y="2960479"/>
            <a:ext cx="428625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2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24万</a:t>
            </a:r>
          </a:p>
        </p:txBody>
      </p:sp>
      <p:sp>
        <p:nvSpPr>
          <p:cNvPr id="8" name="训练20万条，测试4万条">
            <a:extLst>
              <a:ext uri="{FF2B5EF4-FFF2-40B4-BE49-F238E27FC236}">
                <a16:creationId xmlns:a16="http://schemas.microsoft.com/office/drawing/2014/main" id="{01C42910-6DB0-4AAD-B008-B8EA9F9277AF}"/>
              </a:ext>
            </a:extLst>
          </p:cNvPr>
          <p:cNvSpPr>
            <a:spLocks noGrp="1"/>
          </p:cNvSpPr>
          <p:nvPr/>
        </p:nvSpPr>
        <p:spPr>
          <a:xfrm>
            <a:off x="533400" y="3689212"/>
            <a:ext cx="4171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dirty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训练20万条，测试4万条</a:t>
            </a:r>
          </a:p>
        </p:txBody>
      </p:sp>
      <p:sp>
        <p:nvSpPr>
          <p:cNvPr id="9" name="为什么抽样">
            <a:extLst>
              <a:ext uri="{FF2B5EF4-FFF2-40B4-BE49-F238E27FC236}">
                <a16:creationId xmlns:a16="http://schemas.microsoft.com/office/drawing/2014/main" id="{2FE4588B-2FF7-4F9A-90FE-2F845C5FA4F7}"/>
              </a:ext>
            </a:extLst>
          </p:cNvPr>
          <p:cNvSpPr>
            <a:spLocks noGrp="1"/>
          </p:cNvSpPr>
          <p:nvPr/>
        </p:nvSpPr>
        <p:spPr>
          <a:xfrm>
            <a:off x="542925" y="4245225"/>
            <a:ext cx="41719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为什么抽样</a:t>
            </a:r>
            <a:endParaRPr sz="200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降低试验成本，固定 seed=42&#10;便于重复运行与方案对照">
            <a:extLst>
              <a:ext uri="{FF2B5EF4-FFF2-40B4-BE49-F238E27FC236}">
                <a16:creationId xmlns:a16="http://schemas.microsoft.com/office/drawing/2014/main" id="{A31FEA84-633E-4312-937E-2432E7F250E8}"/>
              </a:ext>
            </a:extLst>
          </p:cNvPr>
          <p:cNvSpPr>
            <a:spLocks noGrp="1"/>
          </p:cNvSpPr>
          <p:nvPr/>
        </p:nvSpPr>
        <p:spPr>
          <a:xfrm>
            <a:off x="542925" y="4652894"/>
            <a:ext cx="42100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降低试验成本，固定</a:t>
            </a:r>
            <a:r>
              <a:rPr sz="172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 seed=42</a:t>
            </a:r>
          </a:p>
          <a:p>
            <a:pPr algn="l">
              <a:defRPr sz="17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便于重复运行与方案对照</a:t>
            </a:r>
            <a:endParaRPr sz="172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Kaggle：bittlingmayer/amazonreviews。原始训练3">
            <a:extLst>
              <a:ext uri="{FF2B5EF4-FFF2-40B4-BE49-F238E27FC236}">
                <a16:creationId xmlns:a16="http://schemas.microsoft.com/office/drawing/2014/main" id="{C56F39AD-5DB0-4887-98DE-3DABE510D64F}"/>
              </a:ext>
            </a:extLst>
          </p:cNvPr>
          <p:cNvSpPr>
            <a:spLocks noGrp="1"/>
          </p:cNvSpPr>
          <p:nvPr/>
        </p:nvSpPr>
        <p:spPr>
          <a:xfrm>
            <a:off x="4705350" y="786545"/>
            <a:ext cx="6033239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10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 (https://www.kaggle.com/bittlingmayer/amazonreviews) </a:t>
            </a:r>
            <a:endParaRPr sz="1050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58EE4C-9B9B-AA50-F70A-6A1380F43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80" y="6030472"/>
            <a:ext cx="6788064" cy="75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第一部分  数据与预处理">
            <a:extLst>
              <a:ext uri="{FF2B5EF4-FFF2-40B4-BE49-F238E27FC236}">
                <a16:creationId xmlns:a16="http://schemas.microsoft.com/office/drawing/2014/main" id="{E3D38AC5-3562-419E-B965-E8208AF44097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第一部分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数据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介绍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数据特点决定后续处理方式">
            <a:extLst>
              <a:ext uri="{FF2B5EF4-FFF2-40B4-BE49-F238E27FC236}">
                <a16:creationId xmlns:a16="http://schemas.microsoft.com/office/drawing/2014/main" id="{1BBDCE3E-0FD5-48B6-8DCA-C6ED6B97A5EB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数据特点决定后续处理方式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1692A26C-A91D-42C7-A840-6AECCD4276C0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71" y="1590675"/>
            <a:ext cx="12079658" cy="3371850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82B3C9E7-1AEE-4810-B360-64E253FBC27F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类别基本平衡">
            <a:extLst>
              <a:ext uri="{FF2B5EF4-FFF2-40B4-BE49-F238E27FC236}">
                <a16:creationId xmlns:a16="http://schemas.microsoft.com/office/drawing/2014/main" id="{B02AD6DD-42C0-4234-A1B5-C7578B14C918}"/>
              </a:ext>
            </a:extLst>
          </p:cNvPr>
          <p:cNvSpPr>
            <a:spLocks noGrp="1"/>
          </p:cNvSpPr>
          <p:nvPr/>
        </p:nvSpPr>
        <p:spPr>
          <a:xfrm>
            <a:off x="561975" y="4962525"/>
            <a:ext cx="34004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类别基本平衡</a:t>
            </a:r>
          </a:p>
        </p:txBody>
      </p:sp>
      <p:sp>
        <p:nvSpPr>
          <p:cNvPr id="7" name="优先比较分类效果&#10;迁移时重新检查类别比例">
            <a:extLst>
              <a:ext uri="{FF2B5EF4-FFF2-40B4-BE49-F238E27FC236}">
                <a16:creationId xmlns:a16="http://schemas.microsoft.com/office/drawing/2014/main" id="{AB220EFE-29FF-47A3-9A98-1D5E7E5EC4D2}"/>
              </a:ext>
            </a:extLst>
          </p:cNvPr>
          <p:cNvSpPr>
            <a:spLocks noGrp="1"/>
          </p:cNvSpPr>
          <p:nvPr/>
        </p:nvSpPr>
        <p:spPr>
          <a:xfrm>
            <a:off x="561975" y="5429250"/>
            <a:ext cx="34004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正负样本比例接近 1:1</a:t>
            </a:r>
            <a:br>
              <a:rPr lang="zh-CN" altLang="zh-CN" sz="157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无需额外过采样或欠采样</a:t>
            </a:r>
            <a:endParaRPr sz="15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评论长度差异明显">
            <a:extLst>
              <a:ext uri="{FF2B5EF4-FFF2-40B4-BE49-F238E27FC236}">
                <a16:creationId xmlns:a16="http://schemas.microsoft.com/office/drawing/2014/main" id="{363CAF36-C85F-4774-AF64-931CA05695A7}"/>
              </a:ext>
            </a:extLst>
          </p:cNvPr>
          <p:cNvSpPr>
            <a:spLocks noGrp="1"/>
          </p:cNvSpPr>
          <p:nvPr/>
        </p:nvSpPr>
        <p:spPr>
          <a:xfrm>
            <a:off x="4429125" y="4962525"/>
            <a:ext cx="3362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评论长度差异明显</a:t>
            </a:r>
          </a:p>
        </p:txBody>
      </p:sp>
      <p:sp>
        <p:nvSpPr>
          <p:cNvPr id="9" name="保留原始文本&#10;后续检验长度等结构特征">
            <a:extLst>
              <a:ext uri="{FF2B5EF4-FFF2-40B4-BE49-F238E27FC236}">
                <a16:creationId xmlns:a16="http://schemas.microsoft.com/office/drawing/2014/main" id="{C36257FA-1DE7-4E24-999E-183E60E4E0BA}"/>
              </a:ext>
            </a:extLst>
          </p:cNvPr>
          <p:cNvSpPr>
            <a:spLocks noGrp="1"/>
          </p:cNvSpPr>
          <p:nvPr/>
        </p:nvSpPr>
        <p:spPr>
          <a:xfrm>
            <a:off x="4429125" y="5429250"/>
            <a:ext cx="3800477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评论长度存在明显差异</a:t>
            </a:r>
            <a:br>
              <a:rPr lang="zh-CN" altLang="zh-CN" sz="157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保留原始文本，后续加入长度等结构特征</a:t>
            </a:r>
            <a:endParaRPr sz="15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先检查质量">
            <a:extLst>
              <a:ext uri="{FF2B5EF4-FFF2-40B4-BE49-F238E27FC236}">
                <a16:creationId xmlns:a16="http://schemas.microsoft.com/office/drawing/2014/main" id="{9FB6D594-B724-466B-89AA-57DC37EDBE36}"/>
              </a:ext>
            </a:extLst>
          </p:cNvPr>
          <p:cNvSpPr>
            <a:spLocks noGrp="1"/>
          </p:cNvSpPr>
          <p:nvPr/>
        </p:nvSpPr>
        <p:spPr>
          <a:xfrm>
            <a:off x="8696327" y="4962525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先检查质量</a:t>
            </a:r>
            <a:endParaRPr sz="1725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训练样本无缺失、无重复&#10;跨训练/测试重复尚待复核">
            <a:extLst>
              <a:ext uri="{FF2B5EF4-FFF2-40B4-BE49-F238E27FC236}">
                <a16:creationId xmlns:a16="http://schemas.microsoft.com/office/drawing/2014/main" id="{0A8A0CB1-C859-483D-A1E0-02F6288E0611}"/>
              </a:ext>
            </a:extLst>
          </p:cNvPr>
          <p:cNvSpPr>
            <a:spLocks noGrp="1"/>
          </p:cNvSpPr>
          <p:nvPr/>
        </p:nvSpPr>
        <p:spPr>
          <a:xfrm>
            <a:off x="8696327" y="5429250"/>
            <a:ext cx="327660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数据完整、重复情况可控</a:t>
            </a:r>
            <a:br>
              <a:rPr lang="zh-CN" altLang="zh-CN" sz="157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575" b="1" dirty="0">
                <a:solidFill>
                  <a:srgbClr val="617084"/>
                </a:solidFill>
                <a:latin typeface="Noto Sans CJK SC"/>
              </a:rPr>
              <a:t>确认训练集与测试集相互独立</a:t>
            </a:r>
            <a:endParaRPr sz="15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62725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BC1D56F-CA6F-7CEB-546F-9A36F158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" y="0"/>
            <a:ext cx="12057889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E9A32B5-F826-1FEE-362B-03BBE1AE5596}"/>
              </a:ext>
            </a:extLst>
          </p:cNvPr>
          <p:cNvSpPr/>
          <p:nvPr/>
        </p:nvSpPr>
        <p:spPr>
          <a:xfrm>
            <a:off x="4372417" y="1446539"/>
            <a:ext cx="32624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第二部分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FDD46C-32EF-677A-9D42-8785600A021D}"/>
              </a:ext>
            </a:extLst>
          </p:cNvPr>
          <p:cNvSpPr/>
          <p:nvPr/>
        </p:nvSpPr>
        <p:spPr>
          <a:xfrm>
            <a:off x="4628897" y="4506050"/>
            <a:ext cx="27494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文本预处理</a:t>
            </a:r>
          </a:p>
        </p:txBody>
      </p:sp>
    </p:spTree>
    <p:extLst>
      <p:ext uri="{BB962C8B-B14F-4D97-AF65-F5344CB8AC3E}">
        <p14:creationId xmlns:p14="http://schemas.microsoft.com/office/powerpoint/2010/main" val="71643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第一部分  数据与预处理">
            <a:extLst>
              <a:ext uri="{FF2B5EF4-FFF2-40B4-BE49-F238E27FC236}">
                <a16:creationId xmlns:a16="http://schemas.microsoft.com/office/drawing/2014/main" id="{81253FDF-EBB8-4A45-94F7-FAFF2A8844EA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预处理目标：统一表达，保留否定信息">
            <a:extLst>
              <a:ext uri="{FF2B5EF4-FFF2-40B4-BE49-F238E27FC236}">
                <a16:creationId xmlns:a16="http://schemas.microsoft.com/office/drawing/2014/main" id="{5E38BBEE-DF4E-415F-AE6C-6AAF7FA1AAF1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预处理目标：统一表达，保留否定信息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2CFBD164-E4EE-4524-926D-4324E836DC35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6771" y="1571625"/>
            <a:ext cx="10038457" cy="3381375"/>
          </a:xfrm>
          <a:prstGeom prst="rect">
            <a:avLst/>
          </a:prstGeom>
        </p:spPr>
      </p:pic>
      <p:sp>
        <p:nvSpPr>
          <p:cNvPr id="5" name="为什么不能直接删词">
            <a:extLst>
              <a:ext uri="{FF2B5EF4-FFF2-40B4-BE49-F238E27FC236}">
                <a16:creationId xmlns:a16="http://schemas.microsoft.com/office/drawing/2014/main" id="{0968A0D4-474C-40CC-A01A-C8BA524E2257}"/>
              </a:ext>
            </a:extLst>
          </p:cNvPr>
          <p:cNvSpPr>
            <a:spLocks noGrp="1"/>
          </p:cNvSpPr>
          <p:nvPr/>
        </p:nvSpPr>
        <p:spPr>
          <a:xfrm>
            <a:off x="628650" y="4953000"/>
            <a:ext cx="4905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为什么不能直接删词</a:t>
            </a:r>
            <a:endParaRPr sz="1875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删掉 not 会改变句意&#10;停用词规则必须服务于任务">
            <a:extLst>
              <a:ext uri="{FF2B5EF4-FFF2-40B4-BE49-F238E27FC236}">
                <a16:creationId xmlns:a16="http://schemas.microsoft.com/office/drawing/2014/main" id="{31296F40-B48D-428A-8B4B-1E64F1E5E092}"/>
              </a:ext>
            </a:extLst>
          </p:cNvPr>
          <p:cNvSpPr>
            <a:spLocks noGrp="1"/>
          </p:cNvSpPr>
          <p:nvPr/>
        </p:nvSpPr>
        <p:spPr>
          <a:xfrm>
            <a:off x="628650" y="5619750"/>
            <a:ext cx="490537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删除 not 可能改变句意</a:t>
            </a:r>
            <a:br>
              <a:rPr lang="zh-CN" altLang="zh-CN" sz="172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not good ≠ good</a:t>
            </a:r>
            <a:br>
              <a:rPr lang="zh-CN" altLang="zh-CN" sz="172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停用词处理需要服务于情感分类任务</a:t>
            </a:r>
            <a:endParaRPr sz="172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本项目技术选择">
            <a:extLst>
              <a:ext uri="{FF2B5EF4-FFF2-40B4-BE49-F238E27FC236}">
                <a16:creationId xmlns:a16="http://schemas.microsoft.com/office/drawing/2014/main" id="{169232F7-AF3B-4EC4-B935-96A59F9ADD09}"/>
              </a:ext>
            </a:extLst>
          </p:cNvPr>
          <p:cNvSpPr>
            <a:spLocks noGrp="1"/>
          </p:cNvSpPr>
          <p:nvPr/>
        </p:nvSpPr>
        <p:spPr>
          <a:xfrm>
            <a:off x="6657977" y="4953000"/>
            <a:ext cx="49339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本项目技术选择</a:t>
            </a:r>
            <a:endParaRPr sz="1875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正则清洗 + NLTK 分词&#10;词性标注 + WordNet 词形还原">
            <a:extLst>
              <a:ext uri="{FF2B5EF4-FFF2-40B4-BE49-F238E27FC236}">
                <a16:creationId xmlns:a16="http://schemas.microsoft.com/office/drawing/2014/main" id="{E5D76D0E-2648-4ABA-9BD8-A9BA9E183624}"/>
              </a:ext>
            </a:extLst>
          </p:cNvPr>
          <p:cNvSpPr>
            <a:spLocks noGrp="1"/>
          </p:cNvSpPr>
          <p:nvPr/>
        </p:nvSpPr>
        <p:spPr>
          <a:xfrm>
            <a:off x="6657977" y="5610225"/>
            <a:ext cx="49339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正则表达式：去 HTML、URL、特殊字符</a:t>
            </a:r>
            <a:br>
              <a:rPr lang="zh-CN" altLang="zh-CN" sz="172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NLTK：分词与停用词处理</a:t>
            </a:r>
            <a:br>
              <a:rPr lang="zh-CN" altLang="zh-CN" sz="1725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725" dirty="0">
                <a:solidFill>
                  <a:srgbClr val="617084"/>
                </a:solidFill>
                <a:latin typeface="Noto Sans CJK SC"/>
              </a:rPr>
              <a:t>WordNet：词形还原</a:t>
            </a:r>
            <a:endParaRPr sz="172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2BA4D-9956-2CE4-E64B-97F484C67687}"/>
              </a:ext>
            </a:extLst>
          </p:cNvPr>
          <p:cNvSpPr txBox="1"/>
          <p:nvPr/>
        </p:nvSpPr>
        <p:spPr>
          <a:xfrm>
            <a:off x="7818426" y="3991513"/>
            <a:ext cx="1417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规范化文本</a:t>
            </a:r>
          </a:p>
        </p:txBody>
      </p:sp>
    </p:spTree>
    <p:extLst>
      <p:ext uri="{BB962C8B-B14F-4D97-AF65-F5344CB8AC3E}">
        <p14:creationId xmlns:p14="http://schemas.microsoft.com/office/powerpoint/2010/main" val="207470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79645D-1814-65E5-F7EB-5B13164F59DF}"/>
              </a:ext>
            </a:extLst>
          </p:cNvPr>
          <p:cNvSpPr txBox="1"/>
          <p:nvPr/>
        </p:nvSpPr>
        <p:spPr>
          <a:xfrm>
            <a:off x="482873" y="478082"/>
            <a:ext cx="609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文本清洗的主要步骤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922659-6CF3-5249-2898-DCE5354A4333}"/>
              </a:ext>
            </a:extLst>
          </p:cNvPr>
          <p:cNvSpPr txBox="1"/>
          <p:nvPr/>
        </p:nvSpPr>
        <p:spPr>
          <a:xfrm>
            <a:off x="851496" y="109643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阶段一：</a:t>
            </a:r>
            <a:r>
              <a:rPr lang="zh-CN" altLang="zh-CN" dirty="0"/>
              <a:t>缩写展开 + 基础清洗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7F3E64-56F8-946A-3179-A6EE9EE7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23" y="1680209"/>
            <a:ext cx="6315567" cy="15585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784907-9B48-F9F1-5A89-C7FF8ABABA20}"/>
              </a:ext>
            </a:extLst>
          </p:cNvPr>
          <p:cNvSpPr txBox="1"/>
          <p:nvPr/>
        </p:nvSpPr>
        <p:spPr>
          <a:xfrm>
            <a:off x="4848665" y="1096430"/>
            <a:ext cx="725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任务</a:t>
            </a:r>
            <a:r>
              <a:rPr lang="en-US" altLang="zh-CN" b="1" dirty="0"/>
              <a:t>: </a:t>
            </a:r>
            <a:r>
              <a:rPr lang="zh-CN" altLang="zh-CN" dirty="0"/>
              <a:t>去除文本噪声，统一文本形式，同时避免缩写中的否定信息丢失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67CC9B-7483-A1C1-4C64-B5D052903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256994"/>
            <a:ext cx="7480487" cy="14156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F85581B-B626-115F-F63E-E1608E26D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900" y="3298202"/>
            <a:ext cx="6436782" cy="1846449"/>
          </a:xfrm>
          <a:prstGeom prst="rect">
            <a:avLst/>
          </a:prstGeom>
        </p:spPr>
      </p:pic>
      <p:sp>
        <p:nvSpPr>
          <p:cNvPr id="14" name="第一部分  数据与预处理">
            <a:extLst>
              <a:ext uri="{FF2B5EF4-FFF2-40B4-BE49-F238E27FC236}">
                <a16:creationId xmlns:a16="http://schemas.microsoft.com/office/drawing/2014/main" id="{57A73F50-32B0-55CE-4869-0E98D8B8F61E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97125D-3F1A-6CBE-3255-0B72918D6A1F}"/>
              </a:ext>
            </a:extLst>
          </p:cNvPr>
          <p:cNvSpPr txBox="1"/>
          <p:nvPr/>
        </p:nvSpPr>
        <p:spPr>
          <a:xfrm>
            <a:off x="7277622" y="2274824"/>
            <a:ext cx="271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展开缩写的集合</a:t>
            </a:r>
            <a:endParaRPr lang="en-US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78C81A-A48E-BED0-6CFF-2EF2F158BBFF}"/>
              </a:ext>
            </a:extLst>
          </p:cNvPr>
          <p:cNvSpPr txBox="1"/>
          <p:nvPr/>
        </p:nvSpPr>
        <p:spPr>
          <a:xfrm>
            <a:off x="3970751" y="3924717"/>
            <a:ext cx="1177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定义文本清洗函数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CA4E3D-1268-C20D-AF97-8FC8402DF362}"/>
              </a:ext>
            </a:extLst>
          </p:cNvPr>
          <p:cNvSpPr txBox="1"/>
          <p:nvPr/>
        </p:nvSpPr>
        <p:spPr>
          <a:xfrm>
            <a:off x="8405467" y="5641671"/>
            <a:ext cx="2423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定义展开缩写的函数</a:t>
            </a:r>
            <a:r>
              <a:rPr lang="en-US" altLang="zh-CN" b="1" dirty="0"/>
              <a:t>,</a:t>
            </a:r>
            <a:r>
              <a:rPr lang="zh-CN" altLang="en-US" b="1" dirty="0"/>
              <a:t>调用上面的集合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744EE5-4B23-CC7E-A35F-D2F73A0B93E9}"/>
              </a:ext>
            </a:extLst>
          </p:cNvPr>
          <p:cNvSpPr txBox="1"/>
          <p:nvPr/>
        </p:nvSpPr>
        <p:spPr>
          <a:xfrm>
            <a:off x="9544248" y="1859325"/>
            <a:ext cx="1791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can't → cannot</a:t>
            </a:r>
          </a:p>
          <a:p>
            <a:r>
              <a:rPr lang="en-US" altLang="zh-CN" dirty="0"/>
              <a:t>don't → do not</a:t>
            </a:r>
          </a:p>
          <a:p>
            <a:r>
              <a:rPr lang="en-US" altLang="zh-CN" dirty="0"/>
              <a:t>isn't → is not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7F41A5-C808-74E9-F80D-468C7DC6B543}"/>
              </a:ext>
            </a:extLst>
          </p:cNvPr>
          <p:cNvSpPr txBox="1"/>
          <p:nvPr/>
        </p:nvSpPr>
        <p:spPr>
          <a:xfrm>
            <a:off x="1828793" y="3509219"/>
            <a:ext cx="18413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HTML → 删除 URL → 删除 </a:t>
            </a:r>
            <a:endParaRPr lang="en-US" altLang="zh-CN" dirty="0"/>
          </a:p>
          <a:p>
            <a:r>
              <a:rPr lang="zh-CN" altLang="zh-CN" dirty="0"/>
              <a:t>数字/标点/特殊字符 → 删除 </a:t>
            </a:r>
            <a:endParaRPr lang="en-US" altLang="zh-CN" dirty="0"/>
          </a:p>
          <a:p>
            <a:r>
              <a:rPr lang="zh-CN" altLang="zh-CN" dirty="0"/>
              <a:t>大写 → 小写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347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第一部分  数据与预处理">
            <a:extLst>
              <a:ext uri="{FF2B5EF4-FFF2-40B4-BE49-F238E27FC236}">
                <a16:creationId xmlns:a16="http://schemas.microsoft.com/office/drawing/2014/main" id="{B51A4588-49BE-E29E-ADF0-AC80FD07A5FD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7181DD-8D84-01C4-F7BB-93BCDEA4797B}"/>
              </a:ext>
            </a:extLst>
          </p:cNvPr>
          <p:cNvSpPr txBox="1"/>
          <p:nvPr/>
        </p:nvSpPr>
        <p:spPr>
          <a:xfrm>
            <a:off x="482873" y="478082"/>
            <a:ext cx="609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文本清洗的主要步骤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A828AF-4CE6-0132-619F-02BE9D0BC28D}"/>
              </a:ext>
            </a:extLst>
          </p:cNvPr>
          <p:cNvSpPr txBox="1"/>
          <p:nvPr/>
        </p:nvSpPr>
        <p:spPr>
          <a:xfrm>
            <a:off x="857759" y="1117393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阶段</a:t>
            </a:r>
            <a:r>
              <a:rPr lang="zh-CN" altLang="en-US" b="1" dirty="0"/>
              <a:t>二</a:t>
            </a:r>
            <a:r>
              <a:rPr lang="zh-CN" altLang="zh-CN" dirty="0"/>
              <a:t>：分词与停用词处理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B60F24-40C4-45AC-3083-33E47577F2DF}"/>
              </a:ext>
            </a:extLst>
          </p:cNvPr>
          <p:cNvSpPr txBox="1"/>
          <p:nvPr/>
        </p:nvSpPr>
        <p:spPr>
          <a:xfrm>
            <a:off x="4823613" y="1117393"/>
            <a:ext cx="725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任务</a:t>
            </a:r>
            <a:r>
              <a:rPr lang="en-US" altLang="zh-CN" b="1" dirty="0"/>
              <a:t>: </a:t>
            </a:r>
            <a:r>
              <a:rPr lang="zh-CN" altLang="zh-CN" dirty="0"/>
              <a:t>把句子拆成单词，并删除无关高频词，同时保留否定词。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58F8927-2843-1B86-00FC-79DA640A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9" y="1795790"/>
            <a:ext cx="8281661" cy="215066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6656F85-348F-67DF-D889-DE4F62E02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788709"/>
            <a:ext cx="11449638" cy="63503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7C27F3E-1424-9D45-5198-B47C7EC8D41E}"/>
              </a:ext>
            </a:extLst>
          </p:cNvPr>
          <p:cNvSpPr txBox="1"/>
          <p:nvPr/>
        </p:nvSpPr>
        <p:spPr>
          <a:xfrm>
            <a:off x="9507487" y="2686456"/>
            <a:ext cx="1972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定义否定字集合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8C6C69-664C-E24B-7EDA-4C9091851AED}"/>
              </a:ext>
            </a:extLst>
          </p:cNvPr>
          <p:cNvSpPr txBox="1"/>
          <p:nvPr/>
        </p:nvSpPr>
        <p:spPr>
          <a:xfrm>
            <a:off x="4939990" y="4348410"/>
            <a:ext cx="188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分词</a:t>
            </a:r>
            <a:r>
              <a:rPr lang="en-US" altLang="zh-CN" b="1" dirty="0"/>
              <a:t>,</a:t>
            </a:r>
            <a:r>
              <a:rPr lang="zh-CN" altLang="en-US" b="1" dirty="0"/>
              <a:t>去除停用词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35E4EE-FC3C-A1EC-D36D-A50AE0DADAC5}"/>
              </a:ext>
            </a:extLst>
          </p:cNvPr>
          <p:cNvSpPr txBox="1"/>
          <p:nvPr/>
        </p:nvSpPr>
        <p:spPr>
          <a:xfrm>
            <a:off x="929741" y="5679375"/>
            <a:ext cx="390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原句： This product is not good</a:t>
            </a:r>
            <a:r>
              <a:rPr lang="en-US" altLang="zh-CN" dirty="0"/>
              <a:t>       -&gt;</a:t>
            </a:r>
          </a:p>
          <a:p>
            <a:r>
              <a:rPr lang="zh-CN" altLang="en-US" dirty="0"/>
              <a:t>分词：</a:t>
            </a:r>
            <a:r>
              <a:rPr lang="en-US" altLang="zh-CN" dirty="0"/>
              <a:t>[this, product, is, not, good]  -&gt;    </a:t>
            </a:r>
            <a:r>
              <a:rPr lang="zh-CN" altLang="en-US" dirty="0"/>
              <a:t>去停用词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[product, not, good]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1C714E-8188-5C4D-2ECC-FE58B991A0CC}"/>
              </a:ext>
            </a:extLst>
          </p:cNvPr>
          <p:cNvSpPr txBox="1"/>
          <p:nvPr/>
        </p:nvSpPr>
        <p:spPr>
          <a:xfrm>
            <a:off x="7338250" y="5540875"/>
            <a:ext cx="2222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is   → 	</a:t>
            </a:r>
            <a:r>
              <a:rPr lang="zh-CN" altLang="en-US" dirty="0"/>
              <a:t>删除</a:t>
            </a:r>
          </a:p>
          <a:p>
            <a:r>
              <a:rPr lang="en-US" altLang="zh-CN" dirty="0"/>
              <a:t>this → 	</a:t>
            </a:r>
            <a:r>
              <a:rPr lang="zh-CN" altLang="en-US" dirty="0"/>
              <a:t>删除</a:t>
            </a:r>
          </a:p>
          <a:p>
            <a:r>
              <a:rPr lang="en-US" altLang="zh-CN" dirty="0"/>
              <a:t>not  → 	</a:t>
            </a:r>
            <a:r>
              <a:rPr lang="zh-CN" altLang="en-US" dirty="0"/>
              <a:t>保留</a:t>
            </a:r>
          </a:p>
          <a:p>
            <a:r>
              <a:rPr lang="en-US" altLang="zh-CN" dirty="0"/>
              <a:t>good → 	</a:t>
            </a:r>
            <a:r>
              <a:rPr lang="zh-CN" altLang="en-US" dirty="0"/>
              <a:t>保留</a:t>
            </a:r>
          </a:p>
        </p:txBody>
      </p:sp>
    </p:spTree>
    <p:extLst>
      <p:ext uri="{BB962C8B-B14F-4D97-AF65-F5344CB8AC3E}">
        <p14:creationId xmlns:p14="http://schemas.microsoft.com/office/powerpoint/2010/main" val="86601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第一部分  数据与预处理">
            <a:extLst>
              <a:ext uri="{FF2B5EF4-FFF2-40B4-BE49-F238E27FC236}">
                <a16:creationId xmlns:a16="http://schemas.microsoft.com/office/drawing/2014/main" id="{D712822A-10D1-0DA7-0C79-B576439A230B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E6019E-F1F0-4B34-EC4D-E4063B7D9A9B}"/>
              </a:ext>
            </a:extLst>
          </p:cNvPr>
          <p:cNvSpPr txBox="1"/>
          <p:nvPr/>
        </p:nvSpPr>
        <p:spPr>
          <a:xfrm>
            <a:off x="482873" y="478082"/>
            <a:ext cx="609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文本清洗的主要步骤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6FF97B-9726-4854-5901-B6807584E024}"/>
              </a:ext>
            </a:extLst>
          </p:cNvPr>
          <p:cNvSpPr txBox="1"/>
          <p:nvPr/>
        </p:nvSpPr>
        <p:spPr>
          <a:xfrm>
            <a:off x="851496" y="1175522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阶段</a:t>
            </a:r>
            <a:r>
              <a:rPr lang="zh-CN" altLang="en-US" b="1" dirty="0"/>
              <a:t>三</a:t>
            </a:r>
            <a:r>
              <a:rPr lang="zh-CN" altLang="zh-CN" dirty="0"/>
              <a:t>：词性标注与 WordNet 词形还原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730AA8-7935-E2D7-5E9D-0B8031E50C42}"/>
              </a:ext>
            </a:extLst>
          </p:cNvPr>
          <p:cNvSpPr txBox="1"/>
          <p:nvPr/>
        </p:nvSpPr>
        <p:spPr>
          <a:xfrm>
            <a:off x="5634316" y="1175522"/>
            <a:ext cx="725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任务</a:t>
            </a:r>
            <a:r>
              <a:rPr lang="en-US" altLang="zh-CN" b="1" dirty="0"/>
              <a:t>: </a:t>
            </a:r>
            <a:r>
              <a:rPr lang="zh-CN" altLang="zh-CN" dirty="0"/>
              <a:t>根据词性进行词形还原，使不同形式的单词尽量统一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45AD0B-8B88-36D7-570B-E4AF05FD5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96" y="2304640"/>
            <a:ext cx="9598379" cy="88754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1E3C7E5-04E2-6AF4-BBC7-F4FAECBF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2" y="4096010"/>
            <a:ext cx="9220674" cy="26671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89FFDD-7A56-4AEF-6B2A-353332AB8A49}"/>
              </a:ext>
            </a:extLst>
          </p:cNvPr>
          <p:cNvSpPr txBox="1"/>
          <p:nvPr/>
        </p:nvSpPr>
        <p:spPr>
          <a:xfrm>
            <a:off x="4419291" y="1919022"/>
            <a:ext cx="243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定义词性</a:t>
            </a:r>
            <a:r>
              <a:rPr lang="en-US" altLang="zh-CN" b="1" dirty="0"/>
              <a:t> </a:t>
            </a:r>
            <a:r>
              <a:rPr lang="zh-CN" altLang="en-US" b="1" dirty="0"/>
              <a:t>还原依据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D868AC-BCC6-1608-E3B3-AB9957BA2EA3}"/>
              </a:ext>
            </a:extLst>
          </p:cNvPr>
          <p:cNvSpPr txBox="1"/>
          <p:nvPr/>
        </p:nvSpPr>
        <p:spPr>
          <a:xfrm>
            <a:off x="4813792" y="3449679"/>
            <a:ext cx="164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根据词性还原</a:t>
            </a:r>
            <a:r>
              <a:rPr lang="en-US" altLang="zh-CN" b="1" dirty="0"/>
              <a:t>,</a:t>
            </a:r>
          </a:p>
          <a:p>
            <a:r>
              <a:rPr lang="zh-CN" altLang="en-US" b="1" dirty="0"/>
              <a:t>组成列表返回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53DBA5-180A-3516-9ACA-B7162660056D}"/>
              </a:ext>
            </a:extLst>
          </p:cNvPr>
          <p:cNvSpPr txBox="1"/>
          <p:nvPr/>
        </p:nvSpPr>
        <p:spPr>
          <a:xfrm>
            <a:off x="10757357" y="2997525"/>
            <a:ext cx="14346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running</a:t>
            </a:r>
          </a:p>
          <a:p>
            <a:r>
              <a:rPr lang="zh-CN" altLang="en-US" sz="2000" dirty="0"/>
              <a:t>   ↓</a:t>
            </a:r>
          </a:p>
          <a:p>
            <a:r>
              <a:rPr lang="zh-CN" altLang="en-US" sz="2000" dirty="0"/>
              <a:t>pos_tag()</a:t>
            </a:r>
          </a:p>
          <a:p>
            <a:r>
              <a:rPr lang="zh-CN" altLang="en-US" sz="2000" dirty="0"/>
              <a:t>   ↓</a:t>
            </a:r>
          </a:p>
          <a:p>
            <a:r>
              <a:rPr lang="zh-CN" altLang="en-US" sz="2000" dirty="0"/>
              <a:t>动词 V</a:t>
            </a:r>
          </a:p>
          <a:p>
            <a:r>
              <a:rPr lang="zh-CN" altLang="en-US" sz="2000" dirty="0"/>
              <a:t>   ↓</a:t>
            </a:r>
          </a:p>
          <a:p>
            <a:r>
              <a:rPr lang="zh-CN" altLang="en-US" sz="2000" dirty="0"/>
              <a:t>Lemmatizer</a:t>
            </a:r>
          </a:p>
          <a:p>
            <a:r>
              <a:rPr lang="zh-CN" altLang="en-US" sz="2000" dirty="0"/>
              <a:t>   ↓</a:t>
            </a:r>
          </a:p>
          <a:p>
            <a:r>
              <a:rPr lang="zh-CN" altLang="en-US" sz="2000" dirty="0"/>
              <a:t>run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834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第一部分  数据与预处理">
            <a:extLst>
              <a:ext uri="{FF2B5EF4-FFF2-40B4-BE49-F238E27FC236}">
                <a16:creationId xmlns:a16="http://schemas.microsoft.com/office/drawing/2014/main" id="{8D4964B6-BC86-4662-BAE7-927647CDC1AB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文本清洗的关键技术与选择理由">
            <a:extLst>
              <a:ext uri="{FF2B5EF4-FFF2-40B4-BE49-F238E27FC236}">
                <a16:creationId xmlns:a16="http://schemas.microsoft.com/office/drawing/2014/main" id="{A4D2BA26-D5BD-4CA0-838D-8486D9FBE41B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文本清洗的关键技术与选择理由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AF9048CB-597E-4DB8-A584-F069C964AE4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609600" y="1226785"/>
            <a:ext cx="10974395" cy="3485853"/>
          </a:xfrm>
          <a:prstGeom prst="rect">
            <a:avLst/>
          </a:prstGeom>
        </p:spPr>
      </p:pic>
      <p:sp>
        <p:nvSpPr>
          <p:cNvPr id="5" name="代码对应">
            <a:extLst>
              <a:ext uri="{FF2B5EF4-FFF2-40B4-BE49-F238E27FC236}">
                <a16:creationId xmlns:a16="http://schemas.microsoft.com/office/drawing/2014/main" id="{BAF7167E-56B6-4BAD-9EEB-FA4A59F30763}"/>
              </a:ext>
            </a:extLst>
          </p:cNvPr>
          <p:cNvSpPr>
            <a:spLocks noGrp="1"/>
          </p:cNvSpPr>
          <p:nvPr/>
        </p:nvSpPr>
        <p:spPr>
          <a:xfrm>
            <a:off x="590550" y="5019675"/>
            <a:ext cx="1762125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72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最重要</a:t>
            </a:r>
            <a:r>
              <a:rPr sz="17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代码</a:t>
            </a:r>
            <a:r>
              <a:rPr lang="en-US" sz="172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: </a:t>
            </a:r>
            <a:endParaRPr sz="17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STOP_WORDS = ALL_STOP − NEGATIONS">
            <a:extLst>
              <a:ext uri="{FF2B5EF4-FFF2-40B4-BE49-F238E27FC236}">
                <a16:creationId xmlns:a16="http://schemas.microsoft.com/office/drawing/2014/main" id="{931A3298-5C84-4179-A4C2-8F5E72E1CE72}"/>
              </a:ext>
            </a:extLst>
          </p:cNvPr>
          <p:cNvSpPr>
            <a:spLocks noGrp="1"/>
          </p:cNvSpPr>
          <p:nvPr/>
        </p:nvSpPr>
        <p:spPr>
          <a:xfrm>
            <a:off x="2352675" y="5000625"/>
            <a:ext cx="9001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endParaRPr sz="1875" b="1" dirty="0">
              <a:solidFill>
                <a:srgbClr val="2034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先展开缩写，再清理符号；pos_tag 为 WordNetLemmatizer ">
            <a:extLst>
              <a:ext uri="{FF2B5EF4-FFF2-40B4-BE49-F238E27FC236}">
                <a16:creationId xmlns:a16="http://schemas.microsoft.com/office/drawing/2014/main" id="{1BBDB6D6-81B8-466E-8B60-662E29C93754}"/>
              </a:ext>
            </a:extLst>
          </p:cNvPr>
          <p:cNvSpPr>
            <a:spLocks noGrp="1"/>
          </p:cNvSpPr>
          <p:nvPr/>
        </p:nvSpPr>
        <p:spPr>
          <a:xfrm>
            <a:off x="542925" y="5467350"/>
            <a:ext cx="108489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先展开缩写，再清理符号；pos_tag</a:t>
            </a:r>
            <a:r>
              <a:rPr sz="1875" b="0" dirty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 为 </a:t>
            </a:r>
            <a:r>
              <a:rPr sz="1875" b="0" dirty="0" err="1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WordNetLemmatizer</a:t>
            </a:r>
            <a:r>
              <a:rPr sz="1875" b="0" dirty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875" b="0" dirty="0" err="1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提供词性</a:t>
            </a:r>
            <a:endParaRPr sz="1875" b="0" dirty="0">
              <a:solidFill>
                <a:srgbClr val="2034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原文保留在 review，处理结果写入 clean_review，为后续标点、大">
            <a:extLst>
              <a:ext uri="{FF2B5EF4-FFF2-40B4-BE49-F238E27FC236}">
                <a16:creationId xmlns:a16="http://schemas.microsoft.com/office/drawing/2014/main" id="{946107BA-0A23-4754-86B1-1AD6CEC4CAE3}"/>
              </a:ext>
            </a:extLst>
          </p:cNvPr>
          <p:cNvSpPr>
            <a:spLocks noGrp="1"/>
          </p:cNvSpPr>
          <p:nvPr/>
        </p:nvSpPr>
        <p:spPr>
          <a:xfrm>
            <a:off x="9103919" y="5013645"/>
            <a:ext cx="1916506" cy="130716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400" b="1" dirty="0">
                <a:solidFill>
                  <a:srgbClr val="617084"/>
                </a:solidFill>
                <a:latin typeface="Noto Sans CJK SC"/>
              </a:rPr>
              <a:t>再进行</a:t>
            </a:r>
            <a:endParaRPr lang="en-US" altLang="zh-CN" sz="1400" b="1" dirty="0">
              <a:solidFill>
                <a:srgbClr val="617084"/>
              </a:solidFill>
              <a:latin typeface="Noto Sans CJK SC"/>
            </a:endParaRPr>
          </a:p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400" b="1" dirty="0">
                <a:solidFill>
                  <a:srgbClr val="617084"/>
                </a:solidFill>
                <a:latin typeface="Noto Sans CJK SC"/>
              </a:rPr>
              <a:t>全量处理</a:t>
            </a:r>
            <a:r>
              <a:rPr lang="en-US" altLang="zh-CN" sz="1400" b="1" dirty="0">
                <a:solidFill>
                  <a:srgbClr val="617084"/>
                </a:solidFill>
                <a:latin typeface="Noto Sans CJK SC"/>
              </a:rPr>
              <a:t>:</a:t>
            </a:r>
          </a:p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400" b="1" dirty="0">
                <a:solidFill>
                  <a:srgbClr val="617084"/>
                </a:solidFill>
                <a:latin typeface="Noto Sans CJK SC"/>
              </a:rPr>
              <a:t>分块处理 25,000 条/批</a:t>
            </a:r>
            <a:br>
              <a:rPr lang="zh-CN" altLang="zh-CN" sz="1400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400" b="1" dirty="0">
                <a:solidFill>
                  <a:srgbClr val="617084"/>
                </a:solidFill>
                <a:latin typeface="Noto Sans CJK SC"/>
              </a:rPr>
              <a:t>每批处理后立即保存</a:t>
            </a:r>
            <a:br>
              <a:rPr lang="zh-CN" altLang="zh-CN" sz="1400" dirty="0">
                <a:solidFill>
                  <a:srgbClr val="617084"/>
                </a:solidFill>
                <a:latin typeface="Noto Sans CJK SC"/>
              </a:rPr>
            </a:br>
            <a:r>
              <a:rPr lang="zh-CN" altLang="zh-CN" sz="1400" b="1" dirty="0">
                <a:solidFill>
                  <a:srgbClr val="617084"/>
                </a:solidFill>
                <a:latin typeface="Noto Sans CJK SC"/>
              </a:rPr>
              <a:t>支持中断后断点续跑</a:t>
            </a:r>
            <a:endParaRPr sz="1400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8B67520-D8CC-760A-9730-C9FE963B6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229" y="5067300"/>
            <a:ext cx="3848298" cy="2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第一部分交付：可复用的清洗数据">
            <a:extLst>
              <a:ext uri="{FF2B5EF4-FFF2-40B4-BE49-F238E27FC236}">
                <a16:creationId xmlns:a16="http://schemas.microsoft.com/office/drawing/2014/main" id="{AEE2432B-7E8D-4C8B-9BA6-C9282374EDDD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第一部分交付：可复用的清洗数据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63BB0833-ECA6-49C0-A972-7100DAC22B92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4" name="每25,000条保存一次">
            <a:extLst>
              <a:ext uri="{FF2B5EF4-FFF2-40B4-BE49-F238E27FC236}">
                <a16:creationId xmlns:a16="http://schemas.microsoft.com/office/drawing/2014/main" id="{68ED29F9-5F3C-41E5-A76B-A3B91CDDB871}"/>
              </a:ext>
            </a:extLst>
          </p:cNvPr>
          <p:cNvSpPr>
            <a:spLocks noGrp="1"/>
          </p:cNvSpPr>
          <p:nvPr/>
        </p:nvSpPr>
        <p:spPr>
          <a:xfrm>
            <a:off x="609600" y="1373198"/>
            <a:ext cx="106299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每25,000条保存一次</a:t>
            </a:r>
          </a:p>
        </p:txBody>
      </p:sp>
      <p:sp>
        <p:nvSpPr>
          <p:cNvPr id="5" name="长任务中断后从已保存行数继续，减少重复处理成本">
            <a:extLst>
              <a:ext uri="{FF2B5EF4-FFF2-40B4-BE49-F238E27FC236}">
                <a16:creationId xmlns:a16="http://schemas.microsoft.com/office/drawing/2014/main" id="{BB26BC3F-DF34-4957-AFD6-ADF05704E81A}"/>
              </a:ext>
            </a:extLst>
          </p:cNvPr>
          <p:cNvSpPr>
            <a:spLocks noGrp="1"/>
          </p:cNvSpPr>
          <p:nvPr/>
        </p:nvSpPr>
        <p:spPr>
          <a:xfrm>
            <a:off x="609600" y="1982936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长任务中断后从已保存行数继续，减少重复处理成本</a:t>
            </a:r>
            <a:endParaRPr sz="1950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808038594"/>
              </p:ext>
            </p:extLst>
          </p:nvPr>
        </p:nvGraphicFramePr>
        <p:xfrm>
          <a:off x="609600" y="2658689"/>
          <a:ext cx="11068050" cy="2435971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671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技术环节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代码实现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作用</a:t>
                      </a:r>
                      <a:endParaRPr sz="172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bz2.open + pandas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将原始标签与文本转换为结构化记录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清洗处理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process(text)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同一规则处理训练与测试文本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结果保存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amazon_*_clean.csv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 review、sentiment、clean_review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分块与缓存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CHUNK=25_000 + to_csv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支持断点续跑，后续模块直接读取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9172E597-12AC-67D1-EE97-EDFCE542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16" y="5484802"/>
            <a:ext cx="8115717" cy="692186"/>
          </a:xfrm>
          <a:prstGeom prst="rect">
            <a:avLst/>
          </a:prstGeom>
        </p:spPr>
      </p:pic>
      <p:sp>
        <p:nvSpPr>
          <p:cNvPr id="14" name="第一部分  数据与预处理">
            <a:extLst>
              <a:ext uri="{FF2B5EF4-FFF2-40B4-BE49-F238E27FC236}">
                <a16:creationId xmlns:a16="http://schemas.microsoft.com/office/drawing/2014/main" id="{4B6E7B1E-C4F3-551A-9F57-0D1F201C64B8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04522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清洗结果：文本更短，否定信号得到保留">
            <a:extLst>
              <a:ext uri="{FF2B5EF4-FFF2-40B4-BE49-F238E27FC236}">
                <a16:creationId xmlns:a16="http://schemas.microsoft.com/office/drawing/2014/main" id="{A96BC614-DE02-4E6F-B043-F51DFB6C3265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清洗结果：文本更短，否定信号得到保留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F66835B9-25C4-42A3-A081-371C6DE89440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3EEFEBCF-2C60-4062-93AA-1497A64CD12E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长度下降用于检查处理效果，模型效果仍需对照实验验证">
            <a:extLst>
              <a:ext uri="{FF2B5EF4-FFF2-40B4-BE49-F238E27FC236}">
                <a16:creationId xmlns:a16="http://schemas.microsoft.com/office/drawing/2014/main" id="{23E9CDE1-E02C-4627-8162-302DD0376FD2}"/>
              </a:ext>
            </a:extLst>
          </p:cNvPr>
          <p:cNvSpPr>
            <a:spLocks noGrp="1"/>
          </p:cNvSpPr>
          <p:nvPr/>
        </p:nvSpPr>
        <p:spPr>
          <a:xfrm>
            <a:off x="2927307" y="6588465"/>
            <a:ext cx="9917760" cy="24200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21D76E-7E02-B3D4-B35D-3E38DA493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992" y="3424936"/>
            <a:ext cx="4239008" cy="63380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FCE8AB9-789F-82D6-CC41-FA10BD5B3356}"/>
              </a:ext>
            </a:extLst>
          </p:cNvPr>
          <p:cNvSpPr txBox="1"/>
          <p:nvPr/>
        </p:nvSpPr>
        <p:spPr>
          <a:xfrm>
            <a:off x="8618149" y="4393277"/>
            <a:ext cx="320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文本经过清洗和停用词处理后明显压缩，冗余信息减少。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4CA813F-B259-89E1-BD53-6DF07E93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025" y="1370354"/>
            <a:ext cx="1678154" cy="54365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5A84FEE-F6B8-873F-AF20-159DDCD63919}"/>
              </a:ext>
            </a:extLst>
          </p:cNvPr>
          <p:cNvSpPr txBox="1"/>
          <p:nvPr/>
        </p:nvSpPr>
        <p:spPr>
          <a:xfrm>
            <a:off x="5444827" y="3035086"/>
            <a:ext cx="461665" cy="23197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高频词与出现次数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BDD5B56-09F5-5333-EA89-26D043CA8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617" y="1707901"/>
            <a:ext cx="3606985" cy="484529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B861D6D-7B0F-BA01-7098-9E130F8C7079}"/>
              </a:ext>
            </a:extLst>
          </p:cNvPr>
          <p:cNvSpPr txBox="1"/>
          <p:nvPr/>
        </p:nvSpPr>
        <p:spPr>
          <a:xfrm>
            <a:off x="533400" y="2541386"/>
            <a:ext cx="461665" cy="30945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zh-CN" dirty="0"/>
              <a:t>高频词在两类评论中的差异</a:t>
            </a:r>
            <a:endParaRPr lang="zh-CN" altLang="en-US" dirty="0"/>
          </a:p>
        </p:txBody>
      </p:sp>
      <p:sp>
        <p:nvSpPr>
          <p:cNvPr id="21" name="第一部分  数据与预处理">
            <a:extLst>
              <a:ext uri="{FF2B5EF4-FFF2-40B4-BE49-F238E27FC236}">
                <a16:creationId xmlns:a16="http://schemas.microsoft.com/office/drawing/2014/main" id="{D8E2F48A-EC39-67F6-0469-2C930D18D706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39619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清洗结果：文本更短，否定信号得到保留">
            <a:extLst>
              <a:ext uri="{FF2B5EF4-FFF2-40B4-BE49-F238E27FC236}">
                <a16:creationId xmlns:a16="http://schemas.microsoft.com/office/drawing/2014/main" id="{DBDD4767-62DF-164F-8992-BDAB50BDB95A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清洗结果</a:t>
            </a:r>
            <a:r>
              <a:rPr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：</a:t>
            </a:r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可视化展示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A222087-2F02-5088-B797-64F15A4D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" y="1600775"/>
            <a:ext cx="4208745" cy="330826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8476A4-6580-E57E-3BF8-43F233295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336" y="765598"/>
            <a:ext cx="4039672" cy="32408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8BEC413-C1BC-3BF8-77BF-4E1E06362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330" y="3429000"/>
            <a:ext cx="4107126" cy="336160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D7499F2-F495-6AC0-029A-44BFED8BB107}"/>
              </a:ext>
            </a:extLst>
          </p:cNvPr>
          <p:cNvSpPr txBox="1"/>
          <p:nvPr/>
        </p:nvSpPr>
        <p:spPr>
          <a:xfrm>
            <a:off x="479627" y="5174611"/>
            <a:ext cx="3269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清洗后评论长度整体明显缩短</a:t>
            </a:r>
            <a:r>
              <a:rPr lang="zh-CN" altLang="zh-CN" dirty="0"/>
              <a:t>，说明停用词、符号等冗余信息被有效去除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35A13F-B141-BCCF-5899-28D7DCEEAEE7}"/>
              </a:ext>
            </a:extLst>
          </p:cNvPr>
          <p:cNvSpPr txBox="1"/>
          <p:nvPr/>
        </p:nvSpPr>
        <p:spPr>
          <a:xfrm>
            <a:off x="4323207" y="2088783"/>
            <a:ext cx="3790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正负评论中高频词存在较大重叠</a:t>
            </a:r>
            <a:endParaRPr lang="en-US" altLang="zh-CN" dirty="0"/>
          </a:p>
          <a:p>
            <a:r>
              <a:rPr lang="zh-CN" altLang="zh-CN" dirty="0"/>
              <a:t>仅靠单个高频词很难直接区分情感。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A5BEC0-38B1-CDBB-222F-F7A4C99A8791}"/>
              </a:ext>
            </a:extLst>
          </p:cNvPr>
          <p:cNvSpPr txBox="1"/>
          <p:nvPr/>
        </p:nvSpPr>
        <p:spPr>
          <a:xfrm>
            <a:off x="8383328" y="4712946"/>
            <a:ext cx="366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在两类评论中都非常突出且被保留</a:t>
            </a:r>
            <a:endParaRPr lang="en-US" altLang="zh-CN" b="1" dirty="0"/>
          </a:p>
          <a:p>
            <a:r>
              <a:rPr lang="zh-CN" altLang="zh-CN" dirty="0"/>
              <a:t>说明否定词是后续情感分类中需要重点关注的特征。</a:t>
            </a:r>
            <a:endParaRPr lang="zh-CN" altLang="en-US" dirty="0"/>
          </a:p>
        </p:txBody>
      </p:sp>
      <p:sp>
        <p:nvSpPr>
          <p:cNvPr id="22" name="第一部分  数据与预处理">
            <a:extLst>
              <a:ext uri="{FF2B5EF4-FFF2-40B4-BE49-F238E27FC236}">
                <a16:creationId xmlns:a16="http://schemas.microsoft.com/office/drawing/2014/main" id="{E93C6C8D-6344-4C8E-B6EE-3712DF3E1998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二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文本预处理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554599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2E1AB6-2666-1523-D446-32BC490C4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0" y="50450"/>
            <a:ext cx="12057889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F76036D-59A9-31F3-DCF7-D848CFFD4F1A}"/>
              </a:ext>
            </a:extLst>
          </p:cNvPr>
          <p:cNvSpPr/>
          <p:nvPr/>
        </p:nvSpPr>
        <p:spPr>
          <a:xfrm>
            <a:off x="4721261" y="4356096"/>
            <a:ext cx="27494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文本向量化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F9430-AA51-78A3-DBCF-0EC37B65EB3A}"/>
              </a:ext>
            </a:extLst>
          </p:cNvPr>
          <p:cNvSpPr/>
          <p:nvPr/>
        </p:nvSpPr>
        <p:spPr>
          <a:xfrm>
            <a:off x="4464777" y="1445262"/>
            <a:ext cx="32624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第三部分</a:t>
            </a:r>
          </a:p>
        </p:txBody>
      </p:sp>
    </p:spTree>
    <p:extLst>
      <p:ext uri="{BB962C8B-B14F-4D97-AF65-F5344CB8AC3E}">
        <p14:creationId xmlns:p14="http://schemas.microsoft.com/office/powerpoint/2010/main" val="135619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第二部分  文本向量化">
            <a:extLst>
              <a:ext uri="{FF2B5EF4-FFF2-40B4-BE49-F238E27FC236}">
                <a16:creationId xmlns:a16="http://schemas.microsoft.com/office/drawing/2014/main" id="{DFD1794D-22F8-47F6-AA92-A947140FFBA3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三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文本向量化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文本表示原理：词频与跨文档权重">
            <a:extLst>
              <a:ext uri="{FF2B5EF4-FFF2-40B4-BE49-F238E27FC236}">
                <a16:creationId xmlns:a16="http://schemas.microsoft.com/office/drawing/2014/main" id="{68476849-A439-4CB7-958B-C0D15A598FA6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文本向量化：把文字转换成模型可以计算的数字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3F3B3E7B-CD90-4FA6-963F-C020E9542182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r="50500"/>
          <a:stretch>
            <a:fillRect/>
          </a:stretch>
        </p:blipFill>
        <p:spPr>
          <a:xfrm>
            <a:off x="1054126" y="1533525"/>
            <a:ext cx="4664022" cy="4143375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E00BD41E-77B8-4687-B0CA-C30A476CDB40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词袋：直接统计词频">
            <a:extLst>
              <a:ext uri="{FF2B5EF4-FFF2-40B4-BE49-F238E27FC236}">
                <a16:creationId xmlns:a16="http://schemas.microsoft.com/office/drawing/2014/main" id="{20AE8C3D-D212-44C4-B101-970ADC0AD8BC}"/>
              </a:ext>
            </a:extLst>
          </p:cNvPr>
          <p:cNvSpPr>
            <a:spLocks noGrp="1"/>
          </p:cNvSpPr>
          <p:nvPr/>
        </p:nvSpPr>
        <p:spPr>
          <a:xfrm>
            <a:off x="6896099" y="1652588"/>
            <a:ext cx="47339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词袋：直接统计词频</a:t>
            </a:r>
            <a:endParaRPr sz="2025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CountVectorizer&#10;同一句中 not 出现2次，记为2">
            <a:extLst>
              <a:ext uri="{FF2B5EF4-FFF2-40B4-BE49-F238E27FC236}">
                <a16:creationId xmlns:a16="http://schemas.microsoft.com/office/drawing/2014/main" id="{7D322142-9337-4076-9572-13388EAEF0FD}"/>
              </a:ext>
            </a:extLst>
          </p:cNvPr>
          <p:cNvSpPr>
            <a:spLocks noGrp="1"/>
          </p:cNvSpPr>
          <p:nvPr/>
        </p:nvSpPr>
        <p:spPr>
          <a:xfrm>
            <a:off x="6939349" y="1962151"/>
            <a:ext cx="47339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CountVectorizer</a:t>
            </a:r>
            <a:endParaRPr sz="18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同一句中</a:t>
            </a:r>
            <a:r>
              <a:rPr sz="187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 not 出现2次，记为2</a:t>
            </a:r>
          </a:p>
        </p:txBody>
      </p:sp>
      <p:sp>
        <p:nvSpPr>
          <p:cNvPr id="8" name="TF-IDF：加权后归一化">
            <a:extLst>
              <a:ext uri="{FF2B5EF4-FFF2-40B4-BE49-F238E27FC236}">
                <a16:creationId xmlns:a16="http://schemas.microsoft.com/office/drawing/2014/main" id="{4B8C77E7-90DD-4345-B5FC-608004797235}"/>
              </a:ext>
            </a:extLst>
          </p:cNvPr>
          <p:cNvSpPr>
            <a:spLocks noGrp="1"/>
          </p:cNvSpPr>
          <p:nvPr/>
        </p:nvSpPr>
        <p:spPr>
          <a:xfrm>
            <a:off x="7781280" y="5657850"/>
            <a:ext cx="47339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TF-IDF：加权后归一化</a:t>
            </a:r>
            <a:endParaRPr sz="2025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结合词频与跨文档稀有度&#10;本例 not 的归一化权重约0.579">
            <a:extLst>
              <a:ext uri="{FF2B5EF4-FFF2-40B4-BE49-F238E27FC236}">
                <a16:creationId xmlns:a16="http://schemas.microsoft.com/office/drawing/2014/main" id="{8371FB66-062B-4383-8CF9-DA63BF054747}"/>
              </a:ext>
            </a:extLst>
          </p:cNvPr>
          <p:cNvSpPr>
            <a:spLocks noGrp="1"/>
          </p:cNvSpPr>
          <p:nvPr/>
        </p:nvSpPr>
        <p:spPr>
          <a:xfrm>
            <a:off x="7816677" y="6057900"/>
            <a:ext cx="47339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结合词频与跨文档稀有度</a:t>
            </a:r>
            <a:endParaRPr sz="18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本例</a:t>
            </a:r>
            <a:r>
              <a:rPr sz="187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 not 的归一化权重约0.579</a:t>
            </a:r>
          </a:p>
        </p:txBody>
      </p:sp>
      <p:sp>
        <p:nvSpPr>
          <p:cNvPr id="10" name="为什么向量化：让分类模型获得可计算、可比较的文本特征">
            <a:extLst>
              <a:ext uri="{FF2B5EF4-FFF2-40B4-BE49-F238E27FC236}">
                <a16:creationId xmlns:a16="http://schemas.microsoft.com/office/drawing/2014/main" id="{C8EE9471-082D-492F-AAE7-C9EE1534B7E7}"/>
              </a:ext>
            </a:extLst>
          </p:cNvPr>
          <p:cNvSpPr>
            <a:spLocks noGrp="1"/>
          </p:cNvSpPr>
          <p:nvPr/>
        </p:nvSpPr>
        <p:spPr>
          <a:xfrm>
            <a:off x="209550" y="57435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为什么向量化：让分类模型获得可计算、可比较的文本特征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原图左侧面板。示例中not在两句均出现，IDF=1，0.579还取决于词频和L2">
            <a:extLst>
              <a:ext uri="{FF2B5EF4-FFF2-40B4-BE49-F238E27FC236}">
                <a16:creationId xmlns:a16="http://schemas.microsoft.com/office/drawing/2014/main" id="{3DE09D7E-CE7E-4BE0-89F2-88BF1EC050B8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原图左侧面板。示例中not在两句均出现，IDF=1，0.579还取决于词频和L2归一化。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259926D-7809-0A56-952E-E5AC2EC4A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417" y="2707985"/>
            <a:ext cx="3495541" cy="164057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53521C4-49F8-595A-499F-C69399C9B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911" y="4312252"/>
            <a:ext cx="6389326" cy="132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第二部分  文本向量化">
            <a:extLst>
              <a:ext uri="{FF2B5EF4-FFF2-40B4-BE49-F238E27FC236}">
                <a16:creationId xmlns:a16="http://schemas.microsoft.com/office/drawing/2014/main" id="{541B7722-422C-4B8A-9839-67EB368F55A7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三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文本向量化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三种表示方案：从单词到局部短语">
            <a:extLst>
              <a:ext uri="{FF2B5EF4-FFF2-40B4-BE49-F238E27FC236}">
                <a16:creationId xmlns:a16="http://schemas.microsoft.com/office/drawing/2014/main" id="{974359BE-C503-4A11-B0AD-E66FBBF529A6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三种表示方案：从单词到局部短语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BE6E61ED-1287-4444-8039-1E5ABDD0FD0A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2721638864"/>
              </p:ext>
            </p:extLst>
          </p:nvPr>
        </p:nvGraphicFramePr>
        <p:xfrm>
          <a:off x="457200" y="1483563"/>
          <a:ext cx="11125200" cy="3152776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技术实现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为什么比较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词袋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CountVectorizer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max_features=50,000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作为直接统计词频的参照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TF-IDF 单词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TfidfVectorizer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min_df=3，sublinear_tf=True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观察加权与低频过滤后的效果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TF-IDF 单词+双词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ngram_range=(1,2)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max_features=50,000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</a:t>
                      </a:r>
                      <a:r>
                        <a:rPr sz="1800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not good </a:t>
                      </a:r>
                      <a:r>
                        <a:rPr sz="1800" b="0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等局部组合</a:t>
                      </a:r>
                      <a:endParaRPr sz="1800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用同一个朴素贝叶斯分类器，先比较表示方案">
            <a:extLst>
              <a:ext uri="{FF2B5EF4-FFF2-40B4-BE49-F238E27FC236}">
                <a16:creationId xmlns:a16="http://schemas.microsoft.com/office/drawing/2014/main" id="{06F01FA1-928D-4379-A50E-47300612B6A4}"/>
              </a:ext>
            </a:extLst>
          </p:cNvPr>
          <p:cNvSpPr>
            <a:spLocks noGrp="1"/>
          </p:cNvSpPr>
          <p:nvPr/>
        </p:nvSpPr>
        <p:spPr>
          <a:xfrm>
            <a:off x="1140044" y="5546793"/>
            <a:ext cx="5418411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用同一个朴素贝叶斯分类器，先比较表示方案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607D00-21CA-3B88-A8B5-788F5598A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425" y="4636339"/>
            <a:ext cx="3720175" cy="227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89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第二部分  文本向量化">
            <a:extLst>
              <a:ext uri="{FF2B5EF4-FFF2-40B4-BE49-F238E27FC236}">
                <a16:creationId xmlns:a16="http://schemas.microsoft.com/office/drawing/2014/main" id="{8876D46D-9B8D-40CA-A77A-BEC8B771E21F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三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文本向量化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表示方案结果：双词特征更适合本次任务">
            <a:extLst>
              <a:ext uri="{FF2B5EF4-FFF2-40B4-BE49-F238E27FC236}">
                <a16:creationId xmlns:a16="http://schemas.microsoft.com/office/drawing/2014/main" id="{F625DD32-8B6D-410E-926D-80FA185A4BCC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表示方案结果：双词特征更适合本次任务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AEAF9FED-AD09-4100-8924-27A3BCB27896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6831" y="1647825"/>
            <a:ext cx="11177388" cy="3848100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C0A67A28-425B-49B2-B5F2-791127C53898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选用 TF-IDF(1,2)，将局部否定组合交给模型学习">
            <a:extLst>
              <a:ext uri="{FF2B5EF4-FFF2-40B4-BE49-F238E27FC236}">
                <a16:creationId xmlns:a16="http://schemas.microsoft.com/office/drawing/2014/main" id="{BB2642A6-FE42-4CD9-A82B-92DE757FFF9C}"/>
              </a:ext>
            </a:extLst>
          </p:cNvPr>
          <p:cNvSpPr>
            <a:spLocks noGrp="1"/>
          </p:cNvSpPr>
          <p:nvPr/>
        </p:nvSpPr>
        <p:spPr>
          <a:xfrm>
            <a:off x="3319462" y="5572125"/>
            <a:ext cx="55530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选用</a:t>
            </a:r>
            <a:r>
              <a:rPr sz="202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TF-IDF(1,2)，</a:t>
            </a:r>
            <a:r>
              <a:rPr sz="2025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将局部否定组合交给模型学习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图中为积极类F1。相对单词TF-IDF提高4.23个百分点，属于本次探索性对照。">
            <a:extLst>
              <a:ext uri="{FF2B5EF4-FFF2-40B4-BE49-F238E27FC236}">
                <a16:creationId xmlns:a16="http://schemas.microsoft.com/office/drawing/2014/main" id="{B36DCBE5-15E2-4049-ADD2-6D4A8FCFD0AA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图中为积极类F1。相对单词TF-IDF提高4.23个百分点，属于本次探索性对照。</a:t>
            </a:r>
          </a:p>
        </p:txBody>
      </p:sp>
    </p:spTree>
    <p:extLst>
      <p:ext uri="{BB962C8B-B14F-4D97-AF65-F5344CB8AC3E}">
        <p14:creationId xmlns:p14="http://schemas.microsoft.com/office/powerpoint/2010/main" val="67026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示方案结果：双词特征更适合本次任务">
            <a:extLst>
              <a:ext uri="{FF2B5EF4-FFF2-40B4-BE49-F238E27FC236}">
                <a16:creationId xmlns:a16="http://schemas.microsoft.com/office/drawing/2014/main" id="{9A2C7F3A-6103-1DE4-31F3-32D7B7804C3E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可视化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4B2C1C-3421-F4D7-7043-BB28137B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0116"/>
            <a:ext cx="4743210" cy="38736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20214A-5B7D-2BDF-D788-197F3BB8D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984" y="0"/>
            <a:ext cx="4702243" cy="35163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A7C329-AE37-67AB-13F8-3FC3036AE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830" y="3476921"/>
            <a:ext cx="3958170" cy="338107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24771BA-D607-FEBD-BD80-5C0E8CF3B5A9}"/>
              </a:ext>
            </a:extLst>
          </p:cNvPr>
          <p:cNvSpPr txBox="1"/>
          <p:nvPr/>
        </p:nvSpPr>
        <p:spPr>
          <a:xfrm>
            <a:off x="786851" y="1968017"/>
            <a:ext cx="3169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三种文本向量化方法</a:t>
            </a:r>
            <a:endParaRPr lang="en-US" altLang="zh-CN" dirty="0"/>
          </a:p>
          <a:p>
            <a:r>
              <a:rPr lang="zh-CN" altLang="en-US" dirty="0"/>
              <a:t>关于四个指标的对比分析</a:t>
            </a:r>
            <a:endParaRPr lang="en-US" altLang="zh-CN" dirty="0"/>
          </a:p>
          <a:p>
            <a:r>
              <a:rPr lang="en-US" altLang="zh-CN" dirty="0"/>
              <a:t>		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78C469-21E7-C703-FE7F-520F08CD8447}"/>
              </a:ext>
            </a:extLst>
          </p:cNvPr>
          <p:cNvSpPr txBox="1"/>
          <p:nvPr/>
        </p:nvSpPr>
        <p:spPr>
          <a:xfrm>
            <a:off x="5267178" y="4217673"/>
            <a:ext cx="26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TF-IDF(1-2gram)</a:t>
            </a:r>
            <a:r>
              <a:rPr lang="zh-CN" altLang="en-US" dirty="0"/>
              <a:t>捕获的</a:t>
            </a:r>
            <a:endParaRPr lang="en-US" altLang="zh-CN" dirty="0"/>
          </a:p>
          <a:p>
            <a:r>
              <a:rPr lang="zh-CN" altLang="en-US" dirty="0"/>
              <a:t>否定短语 </a:t>
            </a:r>
            <a:r>
              <a:rPr lang="en-US" altLang="zh-CN" dirty="0"/>
              <a:t>TOP15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BC522-A24B-230F-7744-81ABA16391C7}"/>
              </a:ext>
            </a:extLst>
          </p:cNvPr>
          <p:cNvSpPr txBox="1"/>
          <p:nvPr/>
        </p:nvSpPr>
        <p:spPr>
          <a:xfrm>
            <a:off x="9363767" y="1787687"/>
            <a:ext cx="23722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观察 TF-IDF 权重分布：大多数特征权重较低，只有少部分特征具有较高权重。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401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第二部分  文本向量化">
            <a:extLst>
              <a:ext uri="{FF2B5EF4-FFF2-40B4-BE49-F238E27FC236}">
                <a16:creationId xmlns:a16="http://schemas.microsoft.com/office/drawing/2014/main" id="{0C1CF143-B4D7-4FFB-B1FD-319C0A4ECED8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三</a:t>
            </a:r>
            <a:r>
              <a:rPr sz="1200" b="1" dirty="0" err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文本向量化</a:t>
            </a:r>
            <a:endParaRPr sz="1200" b="1" dirty="0">
              <a:solidFill>
                <a:srgbClr val="A6C1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第二部分交付：稀疏矩阵与固定词表">
            <a:extLst>
              <a:ext uri="{FF2B5EF4-FFF2-40B4-BE49-F238E27FC236}">
                <a16:creationId xmlns:a16="http://schemas.microsoft.com/office/drawing/2014/main" id="{8A469361-80E9-42DC-90EC-D05D2A59366C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第二部分交付：稀疏矩阵与固定词表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3F2233C4-D969-4D4C-82DF-765C2753C4C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4" name="200,000 × 50,000">
            <a:extLst>
              <a:ext uri="{FF2B5EF4-FFF2-40B4-BE49-F238E27FC236}">
                <a16:creationId xmlns:a16="http://schemas.microsoft.com/office/drawing/2014/main" id="{42643915-7692-4D8A-A625-82C3A313F80D}"/>
              </a:ext>
            </a:extLst>
          </p:cNvPr>
          <p:cNvSpPr>
            <a:spLocks noGrp="1"/>
          </p:cNvSpPr>
          <p:nvPr/>
        </p:nvSpPr>
        <p:spPr>
          <a:xfrm>
            <a:off x="571500" y="1724025"/>
            <a:ext cx="11049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200,000 × 50,000</a:t>
            </a:r>
          </a:p>
        </p:txBody>
      </p:sp>
      <p:sp>
        <p:nvSpPr>
          <p:cNvPr id="5" name="训练矩阵规模">
            <a:extLst>
              <a:ext uri="{FF2B5EF4-FFF2-40B4-BE49-F238E27FC236}">
                <a16:creationId xmlns:a16="http://schemas.microsoft.com/office/drawing/2014/main" id="{D7033E86-C85D-4729-989B-F8B8FA1C447C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训练矩阵规模</a:t>
            </a:r>
          </a:p>
        </p:txBody>
      </p:sp>
      <p:sp>
        <p:nvSpPr>
          <p:cNvPr id="6" name="99.9098%">
            <a:extLst>
              <a:ext uri="{FF2B5EF4-FFF2-40B4-BE49-F238E27FC236}">
                <a16:creationId xmlns:a16="http://schemas.microsoft.com/office/drawing/2014/main" id="{089F27AF-2409-453D-9CEA-360829DBD7BB}"/>
              </a:ext>
            </a:extLst>
          </p:cNvPr>
          <p:cNvSpPr>
            <a:spLocks noGrp="1"/>
          </p:cNvSpPr>
          <p:nvPr/>
        </p:nvSpPr>
        <p:spPr>
          <a:xfrm>
            <a:off x="609600" y="3781426"/>
            <a:ext cx="557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99.9098%</a:t>
            </a:r>
          </a:p>
        </p:txBody>
      </p:sp>
      <p:sp>
        <p:nvSpPr>
          <p:cNvPr id="7" name="元素为零，采用 SciPy 稀疏存储">
            <a:extLst>
              <a:ext uri="{FF2B5EF4-FFF2-40B4-BE49-F238E27FC236}">
                <a16:creationId xmlns:a16="http://schemas.microsoft.com/office/drawing/2014/main" id="{32608431-4DF0-44B5-91B0-3AB897D85068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9245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元素为零，采用 SciPy 稀疏存储</a:t>
            </a:r>
          </a:p>
        </p:txBody>
      </p:sp>
      <p:sp>
        <p:nvSpPr>
          <p:cNvPr id="8" name="9,019,297">
            <a:extLst>
              <a:ext uri="{FF2B5EF4-FFF2-40B4-BE49-F238E27FC236}">
                <a16:creationId xmlns:a16="http://schemas.microsoft.com/office/drawing/2014/main" id="{4CCB4367-C516-46A8-A168-65CE3685405A}"/>
              </a:ext>
            </a:extLst>
          </p:cNvPr>
          <p:cNvSpPr>
            <a:spLocks noGrp="1"/>
          </p:cNvSpPr>
          <p:nvPr/>
        </p:nvSpPr>
        <p:spPr>
          <a:xfrm>
            <a:off x="7162800" y="3600450"/>
            <a:ext cx="44672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9,019,297</a:t>
            </a:r>
          </a:p>
        </p:txBody>
      </p:sp>
      <p:sp>
        <p:nvSpPr>
          <p:cNvPr id="9" name="个非零值">
            <a:extLst>
              <a:ext uri="{FF2B5EF4-FFF2-40B4-BE49-F238E27FC236}">
                <a16:creationId xmlns:a16="http://schemas.microsoft.com/office/drawing/2014/main" id="{C66CBE13-F233-47B2-9B5C-6A4AFA69C27D}"/>
              </a:ext>
            </a:extLst>
          </p:cNvPr>
          <p:cNvSpPr>
            <a:spLocks noGrp="1"/>
          </p:cNvSpPr>
          <p:nvPr/>
        </p:nvSpPr>
        <p:spPr>
          <a:xfrm>
            <a:off x="7191375" y="4400550"/>
            <a:ext cx="43434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个非零值</a:t>
            </a:r>
          </a:p>
        </p:txBody>
      </p:sp>
      <p:sp>
        <p:nvSpPr>
          <p:cNvPr id="10" name="训练集 fit_transform，测试集只 transform">
            <a:extLst>
              <a:ext uri="{FF2B5EF4-FFF2-40B4-BE49-F238E27FC236}">
                <a16:creationId xmlns:a16="http://schemas.microsoft.com/office/drawing/2014/main" id="{2B72DDC6-8009-431F-A8D6-26A6503B4B81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训练集 fit_transform，测试集只 transform</a:t>
            </a:r>
          </a:p>
        </p:txBody>
      </p:sp>
      <p:sp>
        <p:nvSpPr>
          <p:cNvPr id="11" name="输出：Xtrain_tf2.npz、Xtest_tf2.npz、vec_tf2.">
            <a:extLst>
              <a:ext uri="{FF2B5EF4-FFF2-40B4-BE49-F238E27FC236}">
                <a16:creationId xmlns:a16="http://schemas.microsoft.com/office/drawing/2014/main" id="{0D39ABA8-59BD-4FE9-AA67-CF4CF9C057B0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输出：Xtrain_tf2.npz、Xtest_tf2.npz、vec_tf2.pkl。迁移到新语料时重新拟合目标词表。</a:t>
            </a:r>
          </a:p>
        </p:txBody>
      </p:sp>
    </p:spTree>
    <p:extLst>
      <p:ext uri="{BB962C8B-B14F-4D97-AF65-F5344CB8AC3E}">
        <p14:creationId xmlns:p14="http://schemas.microsoft.com/office/powerpoint/2010/main" val="1431108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4FA5A3-49D1-925F-FC5A-84C84F41B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" y="88287"/>
            <a:ext cx="12057889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DFA550-EA9D-F919-5752-24922384D020}"/>
              </a:ext>
            </a:extLst>
          </p:cNvPr>
          <p:cNvSpPr/>
          <p:nvPr/>
        </p:nvSpPr>
        <p:spPr>
          <a:xfrm>
            <a:off x="4294514" y="1340333"/>
            <a:ext cx="32624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第四部分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26CD0D-2A34-106C-BA58-0B1FD3D0C94E}"/>
              </a:ext>
            </a:extLst>
          </p:cNvPr>
          <p:cNvSpPr/>
          <p:nvPr/>
        </p:nvSpPr>
        <p:spPr>
          <a:xfrm>
            <a:off x="3981277" y="4319270"/>
            <a:ext cx="37753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模型训练与评价</a:t>
            </a:r>
          </a:p>
        </p:txBody>
      </p:sp>
    </p:spTree>
    <p:extLst>
      <p:ext uri="{BB962C8B-B14F-4D97-AF65-F5344CB8AC3E}">
        <p14:creationId xmlns:p14="http://schemas.microsoft.com/office/powerpoint/2010/main" val="189026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第三部分  模型训练与评价">
            <a:extLst>
              <a:ext uri="{FF2B5EF4-FFF2-40B4-BE49-F238E27FC236}">
                <a16:creationId xmlns:a16="http://schemas.microsoft.com/office/drawing/2014/main" id="{9D7E7871-CAE2-4F99-9950-9EAAB532D3E9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模型选择：比较效果，也比较计算代价">
            <a:extLst>
              <a:ext uri="{FF2B5EF4-FFF2-40B4-BE49-F238E27FC236}">
                <a16:creationId xmlns:a16="http://schemas.microsoft.com/office/drawing/2014/main" id="{3D3D41BD-1348-4D0C-9B7F-88CB9E788F5B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四种分类模型：固定输入，比较不同分类器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0A1DF8E4-6D1C-478F-B677-C4971BCB0FDA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650583531"/>
              </p:ext>
            </p:extLst>
          </p:nvPr>
        </p:nvGraphicFramePr>
        <p:xfrm>
          <a:off x="282298" y="2512779"/>
          <a:ext cx="6108080" cy="3179045"/>
        </p:xfrm>
        <a:graphic>
          <a:graphicData uri="http://schemas.openxmlformats.org/drawingml/2006/table">
            <a:tbl>
              <a:tblPr/>
              <a:tblGrid>
                <a:gridCol w="133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809">
                <a:tc>
                  <a:txBody>
                    <a:bodyPr/>
                    <a:lstStyle/>
                    <a:p>
                      <a:pPr algn="ctr"/>
                      <a:r>
                        <a:rPr sz="1725" b="1" dirty="0" err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</a:t>
                      </a:r>
                      <a:endParaRPr sz="172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2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为什么考虑在内</a:t>
                      </a:r>
                      <a:endParaRPr sz="172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25" b="1" dirty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最优参数</a:t>
                      </a:r>
                      <a:endParaRPr sz="1725" b="1" dirty="0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9">
                <a:tc>
                  <a:txBody>
                    <a:bodyPr/>
                    <a:lstStyle/>
                    <a:p>
                      <a:pPr algn="ctr"/>
                      <a:r>
                        <a:rPr sz="1725" b="1" dirty="0" err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朴素贝叶斯</a:t>
                      </a:r>
                      <a:endParaRPr sz="1725" b="1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dirty="0"/>
                        <a:t>建立快速概率基线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809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逻辑回归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dirty="0"/>
                        <a:t>高维稀疏文本的线性分类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809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线性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dirty="0"/>
                        <a:t>对照另一种线性判别方式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809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多层感知器 MLP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dirty="0"/>
                        <a:t>检验非线性模型是否带来额外收益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隐藏层50，最多15轮</a:t>
                      </a:r>
                      <a:r>
                        <a:rPr lang="en-US" altLang="zh-CN"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(</a:t>
                      </a:r>
                      <a:r>
                        <a:rPr lang="zh-CN" altLang="en-US"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固定设置</a:t>
                      </a:r>
                      <a:r>
                        <a:rPr lang="en-US" altLang="zh-CN" sz="1725" b="0" dirty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)</a:t>
                      </a:r>
                      <a:endParaRPr sz="1725" b="0" dirty="0">
                        <a:solidFill>
                          <a:srgbClr val="2034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固定文本表示后比较模型，减少解释结果时的干扰因素">
            <a:extLst>
              <a:ext uri="{FF2B5EF4-FFF2-40B4-BE49-F238E27FC236}">
                <a16:creationId xmlns:a16="http://schemas.microsoft.com/office/drawing/2014/main" id="{89BEBF1F-76C7-4B0D-AC72-CECF6B9D119A}"/>
              </a:ext>
            </a:extLst>
          </p:cNvPr>
          <p:cNvSpPr>
            <a:spLocks noGrp="1"/>
          </p:cNvSpPr>
          <p:nvPr/>
        </p:nvSpPr>
        <p:spPr>
          <a:xfrm>
            <a:off x="533400" y="156568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2025" b="1" dirty="0">
                <a:solidFill>
                  <a:srgbClr val="285AA7"/>
                </a:solidFill>
                <a:latin typeface="Noto Sans CJK SC"/>
              </a:rPr>
              <a:t>统一使用 TF-IDF 1-2gram 特征，比较概率、线性与非线性分类方式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前三种模型搜索超参数，MLP采用算力预算内的配置。模型机制可复用，参数需要重新验">
            <a:extLst>
              <a:ext uri="{FF2B5EF4-FFF2-40B4-BE49-F238E27FC236}">
                <a16:creationId xmlns:a16="http://schemas.microsoft.com/office/drawing/2014/main" id="{A13B7FC0-4898-4A7B-A510-B7F593D95EFE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050" dirty="0">
                <a:solidFill>
                  <a:srgbClr val="617084"/>
                </a:solidFill>
                <a:latin typeface="Noto Sans CJK SC"/>
              </a:rPr>
              <a:t>所有模型都使用同一套 TF-IDF 1-2gram 特征，先比较分类器本身的差异</a:t>
            </a:r>
            <a:endParaRPr sz="1050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D2DDAB-CC7D-F763-FA73-130418B72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067" y="2126989"/>
            <a:ext cx="5434243" cy="15988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BD582D1-D4CF-8602-B540-1BC023E3F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025" y="4147006"/>
            <a:ext cx="5648326" cy="207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0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第三部分  模型训练与评价">
            <a:extLst>
              <a:ext uri="{FF2B5EF4-FFF2-40B4-BE49-F238E27FC236}">
                <a16:creationId xmlns:a16="http://schemas.microsoft.com/office/drawing/2014/main" id="{B1B6893C-FA11-4C93-AFAD-14580BD5E1B0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调参与训练：先控制预算，再比较最终配置">
            <a:extLst>
              <a:ext uri="{FF2B5EF4-FFF2-40B4-BE49-F238E27FC236}">
                <a16:creationId xmlns:a16="http://schemas.microsoft.com/office/drawing/2014/main" id="{25B638F7-0341-43AD-B67B-D3E82C27FD66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调参流程：先用 6 万条找参数，再用 20 万条训练最终模型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49CCB4EE-53E4-4781-B18B-32125A5A08A9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A082424E-C369-449C-9496-0050E8667C5C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6万条分层子集">
            <a:extLst>
              <a:ext uri="{FF2B5EF4-FFF2-40B4-BE49-F238E27FC236}">
                <a16:creationId xmlns:a16="http://schemas.microsoft.com/office/drawing/2014/main" id="{A54EB84D-BC4D-47F4-BC3E-192F0F628424}"/>
              </a:ext>
            </a:extLst>
          </p:cNvPr>
          <p:cNvSpPr>
            <a:spLocks noGrp="1"/>
          </p:cNvSpPr>
          <p:nvPr/>
        </p:nvSpPr>
        <p:spPr>
          <a:xfrm>
            <a:off x="1581150" y="1685925"/>
            <a:ext cx="41910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6万条分层子集</a:t>
            </a:r>
          </a:p>
        </p:txBody>
      </p:sp>
      <p:sp>
        <p:nvSpPr>
          <p:cNvPr id="6" name="train_test_split(stratify=y)">
            <a:extLst>
              <a:ext uri="{FF2B5EF4-FFF2-40B4-BE49-F238E27FC236}">
                <a16:creationId xmlns:a16="http://schemas.microsoft.com/office/drawing/2014/main" id="{4D9EADA8-38D3-482B-B4EF-35B85636F83E}"/>
              </a:ext>
            </a:extLst>
          </p:cNvPr>
          <p:cNvSpPr>
            <a:spLocks noGrp="1"/>
          </p:cNvSpPr>
          <p:nvPr/>
        </p:nvSpPr>
        <p:spPr>
          <a:xfrm>
            <a:off x="1590675" y="2105025"/>
            <a:ext cx="4876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train_test_split</a:t>
            </a:r>
            <a:r>
              <a:rPr sz="165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(stratify=y)</a:t>
            </a:r>
            <a:r>
              <a:rPr lang="en-US" sz="165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:</a:t>
            </a:r>
          </a:p>
        </p:txBody>
      </p:sp>
      <p:sp>
        <p:nvSpPr>
          <p:cNvPr id="7" name="保留类别比例，降低调参成本">
            <a:extLst>
              <a:ext uri="{FF2B5EF4-FFF2-40B4-BE49-F238E27FC236}">
                <a16:creationId xmlns:a16="http://schemas.microsoft.com/office/drawing/2014/main" id="{68CDCB3C-A155-4646-A541-9F60CB6FB5B5}"/>
              </a:ext>
            </a:extLst>
          </p:cNvPr>
          <p:cNvSpPr>
            <a:spLocks noGrp="1"/>
          </p:cNvSpPr>
          <p:nvPr/>
        </p:nvSpPr>
        <p:spPr>
          <a:xfrm>
            <a:off x="6962775" y="1828800"/>
            <a:ext cx="4572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保留类别比例，降低调参成本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6206F4CC-2559-4F28-A4B3-C55D5E6A2921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9" name="3折交叉验证">
            <a:extLst>
              <a:ext uri="{FF2B5EF4-FFF2-40B4-BE49-F238E27FC236}">
                <a16:creationId xmlns:a16="http://schemas.microsoft.com/office/drawing/2014/main" id="{63182DDA-622C-432F-9E0B-8CBF78CBD575}"/>
              </a:ext>
            </a:extLst>
          </p:cNvPr>
          <p:cNvSpPr>
            <a:spLocks noGrp="1"/>
          </p:cNvSpPr>
          <p:nvPr/>
        </p:nvSpPr>
        <p:spPr>
          <a:xfrm>
            <a:off x="1581150" y="2686050"/>
            <a:ext cx="41910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3折交叉验证</a:t>
            </a:r>
          </a:p>
        </p:txBody>
      </p:sp>
      <p:sp>
        <p:nvSpPr>
          <p:cNvPr id="10" name="StratifiedKFold + GridSearchCV">
            <a:extLst>
              <a:ext uri="{FF2B5EF4-FFF2-40B4-BE49-F238E27FC236}">
                <a16:creationId xmlns:a16="http://schemas.microsoft.com/office/drawing/2014/main" id="{BB5A54B5-7D86-4A18-B28C-D5000EEA20EC}"/>
              </a:ext>
            </a:extLst>
          </p:cNvPr>
          <p:cNvSpPr>
            <a:spLocks noGrp="1"/>
          </p:cNvSpPr>
          <p:nvPr/>
        </p:nvSpPr>
        <p:spPr>
          <a:xfrm>
            <a:off x="1590675" y="3105150"/>
            <a:ext cx="4876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StratifiedKFold</a:t>
            </a:r>
            <a:r>
              <a:rPr sz="1650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 + </a:t>
            </a:r>
            <a:r>
              <a:rPr sz="1650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GridSearchCV</a:t>
            </a:r>
            <a:endParaRPr sz="1650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按 F1 搜索候选超参数">
            <a:extLst>
              <a:ext uri="{FF2B5EF4-FFF2-40B4-BE49-F238E27FC236}">
                <a16:creationId xmlns:a16="http://schemas.microsoft.com/office/drawing/2014/main" id="{478FDD9D-6A91-4969-9F45-DBF8F6FB2716}"/>
              </a:ext>
            </a:extLst>
          </p:cNvPr>
          <p:cNvSpPr>
            <a:spLocks noGrp="1"/>
          </p:cNvSpPr>
          <p:nvPr/>
        </p:nvSpPr>
        <p:spPr>
          <a:xfrm>
            <a:off x="6962775" y="2828925"/>
            <a:ext cx="4572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按 F1 搜索候选超参数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9C99D964-25E4-41C1-84C0-055275FC122E}"/>
              </a:ext>
            </a:extLst>
          </p:cNvPr>
          <p:cNvSpPr>
            <a:spLocks noGrp="1"/>
          </p:cNvSpPr>
          <p:nvPr/>
        </p:nvSpPr>
        <p:spPr>
          <a:xfrm>
            <a:off x="552450" y="368617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3" name="20万条重新训练">
            <a:extLst>
              <a:ext uri="{FF2B5EF4-FFF2-40B4-BE49-F238E27FC236}">
                <a16:creationId xmlns:a16="http://schemas.microsoft.com/office/drawing/2014/main" id="{81227820-40D1-4213-8372-EC0F65C196A7}"/>
              </a:ext>
            </a:extLst>
          </p:cNvPr>
          <p:cNvSpPr>
            <a:spLocks noGrp="1"/>
          </p:cNvSpPr>
          <p:nvPr/>
        </p:nvSpPr>
        <p:spPr>
          <a:xfrm>
            <a:off x="1581150" y="3686175"/>
            <a:ext cx="41910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20万条重新训练</a:t>
            </a:r>
          </a:p>
        </p:txBody>
      </p:sp>
      <p:sp>
        <p:nvSpPr>
          <p:cNvPr id="14" name="fit + predict">
            <a:extLst>
              <a:ext uri="{FF2B5EF4-FFF2-40B4-BE49-F238E27FC236}">
                <a16:creationId xmlns:a16="http://schemas.microsoft.com/office/drawing/2014/main" id="{3955E8C9-1D2F-4A08-BA37-A9F014A4613B}"/>
              </a:ext>
            </a:extLst>
          </p:cNvPr>
          <p:cNvSpPr>
            <a:spLocks noGrp="1"/>
          </p:cNvSpPr>
          <p:nvPr/>
        </p:nvSpPr>
        <p:spPr>
          <a:xfrm>
            <a:off x="1590675" y="4105275"/>
            <a:ext cx="4876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fit + predict</a:t>
            </a:r>
          </a:p>
        </p:txBody>
      </p:sp>
      <p:sp>
        <p:nvSpPr>
          <p:cNvPr id="15" name="统一比较 NB、LR、SVM">
            <a:extLst>
              <a:ext uri="{FF2B5EF4-FFF2-40B4-BE49-F238E27FC236}">
                <a16:creationId xmlns:a16="http://schemas.microsoft.com/office/drawing/2014/main" id="{F3E8C08D-A753-434C-B5B3-9AB4CCBAFD43}"/>
              </a:ext>
            </a:extLst>
          </p:cNvPr>
          <p:cNvSpPr>
            <a:spLocks noGrp="1"/>
          </p:cNvSpPr>
          <p:nvPr/>
        </p:nvSpPr>
        <p:spPr>
          <a:xfrm>
            <a:off x="6962775" y="3829050"/>
            <a:ext cx="4572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统一比较 NB、LR、SVM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540E6D58-8641-4B58-B1D1-CBC369022B54}"/>
              </a:ext>
            </a:extLst>
          </p:cNvPr>
          <p:cNvSpPr>
            <a:spLocks noGrp="1"/>
          </p:cNvSpPr>
          <p:nvPr/>
        </p:nvSpPr>
        <p:spPr>
          <a:xfrm>
            <a:off x="552450" y="4686300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7" name="6万条补充对照">
            <a:extLst>
              <a:ext uri="{FF2B5EF4-FFF2-40B4-BE49-F238E27FC236}">
                <a16:creationId xmlns:a16="http://schemas.microsoft.com/office/drawing/2014/main" id="{ED773301-33F2-4BB6-9410-E773C9BDB304}"/>
              </a:ext>
            </a:extLst>
          </p:cNvPr>
          <p:cNvSpPr>
            <a:spLocks noGrp="1"/>
          </p:cNvSpPr>
          <p:nvPr/>
        </p:nvSpPr>
        <p:spPr>
          <a:xfrm>
            <a:off x="1581150" y="4686300"/>
            <a:ext cx="41910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6万条补充对照</a:t>
            </a:r>
          </a:p>
        </p:txBody>
      </p:sp>
      <p:sp>
        <p:nvSpPr>
          <p:cNvPr id="18" name="LR 与 MLP 使用同一子集">
            <a:extLst>
              <a:ext uri="{FF2B5EF4-FFF2-40B4-BE49-F238E27FC236}">
                <a16:creationId xmlns:a16="http://schemas.microsoft.com/office/drawing/2014/main" id="{B3F3716F-C753-4A10-9DE9-6973AF928CCB}"/>
              </a:ext>
            </a:extLst>
          </p:cNvPr>
          <p:cNvSpPr>
            <a:spLocks noGrp="1"/>
          </p:cNvSpPr>
          <p:nvPr/>
        </p:nvSpPr>
        <p:spPr>
          <a:xfrm>
            <a:off x="1590675" y="5105400"/>
            <a:ext cx="4876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LR 与 MLP 使用同一子集</a:t>
            </a:r>
          </a:p>
        </p:txBody>
      </p:sp>
      <p:sp>
        <p:nvSpPr>
          <p:cNvPr id="19" name="减少训练样本量不同的影响">
            <a:extLst>
              <a:ext uri="{FF2B5EF4-FFF2-40B4-BE49-F238E27FC236}">
                <a16:creationId xmlns:a16="http://schemas.microsoft.com/office/drawing/2014/main" id="{1DCEBB75-BB4C-43BA-AB7A-951E66D5C44D}"/>
              </a:ext>
            </a:extLst>
          </p:cNvPr>
          <p:cNvSpPr>
            <a:spLocks noGrp="1"/>
          </p:cNvSpPr>
          <p:nvPr/>
        </p:nvSpPr>
        <p:spPr>
          <a:xfrm>
            <a:off x="6962775" y="4829175"/>
            <a:ext cx="4572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减少训练样本量不同的影响</a:t>
            </a:r>
          </a:p>
        </p:txBody>
      </p:sp>
      <p:sp>
        <p:nvSpPr>
          <p:cNvPr id="20" name="NB搜索alpha，LR与SVM搜索C。MLP仍存在内部验证与调参预算差异。">
            <a:extLst>
              <a:ext uri="{FF2B5EF4-FFF2-40B4-BE49-F238E27FC236}">
                <a16:creationId xmlns:a16="http://schemas.microsoft.com/office/drawing/2014/main" id="{53062C8A-FE7C-4E0C-94A4-B2A4DA24BC92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1050" dirty="0">
                <a:solidFill>
                  <a:srgbClr val="617084"/>
                </a:solidFill>
                <a:latin typeface="Noto Sans CJK SC"/>
              </a:rPr>
              <a:t>6 万条负责“找参数”，20 万条负责“训练最终传统模型”；MLP因计算量限制采用 6 万条。 </a:t>
            </a:r>
            <a:r>
              <a:rPr sz="1050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65758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DA98C74-1FA9-8113-43AE-8D0E3B3BBB3A}"/>
              </a:ext>
            </a:extLst>
          </p:cNvPr>
          <p:cNvSpPr txBox="1"/>
          <p:nvPr/>
        </p:nvSpPr>
        <p:spPr>
          <a:xfrm>
            <a:off x="1336313" y="93121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抽取 6 万条调参子集</a:t>
            </a:r>
            <a:endParaRPr lang="zh-CN" altLang="en-US" b="1" dirty="0"/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AA4CCD9A-EB0B-5F21-A7FC-36EC2963E29E}"/>
              </a:ext>
            </a:extLst>
          </p:cNvPr>
          <p:cNvSpPr>
            <a:spLocks noGrp="1"/>
          </p:cNvSpPr>
          <p:nvPr/>
        </p:nvSpPr>
        <p:spPr>
          <a:xfrm>
            <a:off x="687462" y="86346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933BB0-4844-D0DD-B8C7-050219AA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73" y="2178254"/>
            <a:ext cx="8919253" cy="25014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03EE6-7A2C-97F9-2142-1146F1821F43}"/>
              </a:ext>
            </a:extLst>
          </p:cNvPr>
          <p:cNvSpPr txBox="1"/>
          <p:nvPr/>
        </p:nvSpPr>
        <p:spPr>
          <a:xfrm>
            <a:off x="4061102" y="5015948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从 20 万训练数据中抽取 6 万条</a:t>
            </a:r>
            <a:br>
              <a:rPr lang="zh-CN" altLang="zh-CN" dirty="0"/>
            </a:br>
            <a:r>
              <a:rPr lang="zh-CN" altLang="zh-CN" dirty="0">
                <a:latin typeface="+mn-lt"/>
              </a:rPr>
              <a:t>stratify=y_tr</a:t>
            </a:r>
            <a:r>
              <a:rPr lang="zh-CN" altLang="zh-CN" dirty="0"/>
              <a:t> 保持正负样本比例</a:t>
            </a:r>
            <a:endParaRPr lang="zh-CN" altLang="en-US" dirty="0"/>
          </a:p>
        </p:txBody>
      </p:sp>
      <p:sp>
        <p:nvSpPr>
          <p:cNvPr id="11" name="第三部分  模型训练与评价">
            <a:extLst>
              <a:ext uri="{FF2B5EF4-FFF2-40B4-BE49-F238E27FC236}">
                <a16:creationId xmlns:a16="http://schemas.microsoft.com/office/drawing/2014/main" id="{01B59379-EEE7-3D0B-E7AD-A76697C9E68B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12159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">
            <a:extLst>
              <a:ext uri="{FF2B5EF4-FFF2-40B4-BE49-F238E27FC236}">
                <a16:creationId xmlns:a16="http://schemas.microsoft.com/office/drawing/2014/main" id="{81210C3B-D77B-25BD-4F8D-BD5BBF627B62}"/>
              </a:ext>
            </a:extLst>
          </p:cNvPr>
          <p:cNvSpPr>
            <a:spLocks noGrp="1"/>
          </p:cNvSpPr>
          <p:nvPr/>
        </p:nvSpPr>
        <p:spPr>
          <a:xfrm>
            <a:off x="687462" y="86346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</a:t>
            </a:r>
            <a:r>
              <a:rPr lang="en-US"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277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F58E11-958C-6D48-707A-9C291AAB2DB7}"/>
              </a:ext>
            </a:extLst>
          </p:cNvPr>
          <p:cNvSpPr txBox="1"/>
          <p:nvPr/>
        </p:nvSpPr>
        <p:spPr>
          <a:xfrm>
            <a:off x="1336313" y="93121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3 折交叉验证 + 网格搜索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2A9A53-7533-6BF3-BA4A-CC39EF98A7B7}"/>
              </a:ext>
            </a:extLst>
          </p:cNvPr>
          <p:cNvSpPr txBox="1"/>
          <p:nvPr/>
        </p:nvSpPr>
        <p:spPr>
          <a:xfrm>
            <a:off x="3558356" y="2140700"/>
            <a:ext cx="4446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StratifiedKFold</a:t>
            </a:r>
            <a:endParaRPr lang="en-US" altLang="zh-CN" dirty="0"/>
          </a:p>
          <a:p>
            <a:r>
              <a:rPr lang="zh-CN" altLang="zh-CN" dirty="0"/>
              <a:t>6 万条分三份，轮流让每一份做一次验证，</a:t>
            </a:r>
            <a:endParaRPr lang="en-US" altLang="zh-CN" dirty="0"/>
          </a:p>
          <a:p>
            <a:pPr algn="ctr"/>
            <a:r>
              <a:rPr lang="zh-CN" altLang="zh-CN" dirty="0"/>
              <a:t>避免参数选择只受某一份数据影响。”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9CB568-AA71-5741-604F-8114BB69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88" y="1763613"/>
            <a:ext cx="7258423" cy="3048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72C3C85-FBD2-2FC9-4EBA-0AB8ED7E5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306" y="3227014"/>
            <a:ext cx="7493385" cy="263538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A18780D-286E-B7E2-8F70-2CF83DEE2CCB}"/>
              </a:ext>
            </a:extLst>
          </p:cNvPr>
          <p:cNvSpPr txBox="1"/>
          <p:nvPr/>
        </p:nvSpPr>
        <p:spPr>
          <a:xfrm>
            <a:off x="3080497" y="5934670"/>
            <a:ext cx="54023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GridSearchCV</a:t>
            </a:r>
            <a:endParaRPr lang="en-US" altLang="zh-CN" dirty="0"/>
          </a:p>
          <a:p>
            <a:pPr algn="ctr"/>
            <a:r>
              <a:rPr lang="zh-CN" altLang="zh-CN" dirty="0"/>
              <a:t>每组参数进行 3 次训练/验证，以平均 F1 选择参数</a:t>
            </a:r>
            <a:r>
              <a:rPr lang="en-US" altLang="zh-CN" dirty="0"/>
              <a:t>; </a:t>
            </a:r>
            <a:r>
              <a:rPr lang="zh-CN" altLang="en-US" dirty="0"/>
              <a:t>最终可得每种模型的最优值</a:t>
            </a:r>
          </a:p>
        </p:txBody>
      </p:sp>
      <p:sp>
        <p:nvSpPr>
          <p:cNvPr id="14" name="第三部分  模型训练与评价">
            <a:extLst>
              <a:ext uri="{FF2B5EF4-FFF2-40B4-BE49-F238E27FC236}">
                <a16:creationId xmlns:a16="http://schemas.microsoft.com/office/drawing/2014/main" id="{30F640D8-A01A-73BD-DA73-39FF05583D1A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59842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模型选择：比较效果，也比较计算代价">
            <a:extLst>
              <a:ext uri="{FF2B5EF4-FFF2-40B4-BE49-F238E27FC236}">
                <a16:creationId xmlns:a16="http://schemas.microsoft.com/office/drawing/2014/main" id="{82A8DCFB-9927-4621-8FA1-74AF55F8BF81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根据</a:t>
            </a:r>
            <a:r>
              <a:rPr lang="en-US" altLang="zh-CN" sz="3150" b="1" dirty="0">
                <a:solidFill>
                  <a:srgbClr val="122D49"/>
                </a:solidFill>
                <a:latin typeface="Noto Sans CJK SC"/>
              </a:rPr>
              <a:t>3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折平均</a:t>
            </a:r>
            <a:r>
              <a:rPr lang="en-US" altLang="zh-CN" sz="3150" b="1" dirty="0">
                <a:solidFill>
                  <a:srgbClr val="122D49"/>
                </a:solidFill>
                <a:latin typeface="Noto Sans CJK SC"/>
              </a:rPr>
              <a:t> F1 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确定最优参数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D7B8E6-3295-EE81-F8C8-525755269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3" y="1605063"/>
            <a:ext cx="5094149" cy="23199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894E30-69F2-2088-5E72-1963ADD8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02" y="1605063"/>
            <a:ext cx="5534331" cy="23798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21A812-C272-16F5-AD45-37C7ED39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02" y="4058346"/>
            <a:ext cx="5175590" cy="2730640"/>
          </a:xfrm>
          <a:prstGeom prst="rect">
            <a:avLst/>
          </a:prstGeom>
        </p:spPr>
      </p:pic>
      <p:sp>
        <p:nvSpPr>
          <p:cNvPr id="11" name="第三部分  模型训练与评价">
            <a:extLst>
              <a:ext uri="{FF2B5EF4-FFF2-40B4-BE49-F238E27FC236}">
                <a16:creationId xmlns:a16="http://schemas.microsoft.com/office/drawing/2014/main" id="{3D15B796-E46E-1006-D39A-CFCE95EBAB21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C0B19C-8A5A-E51B-898F-EBDA63B6B7AC}"/>
              </a:ext>
            </a:extLst>
          </p:cNvPr>
          <p:cNvSpPr txBox="1"/>
          <p:nvPr/>
        </p:nvSpPr>
        <p:spPr>
          <a:xfrm>
            <a:off x="7384568" y="5252937"/>
            <a:ext cx="2982836" cy="38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为什么选择</a:t>
            </a:r>
            <a:r>
              <a:rPr lang="en-US" altLang="zh-CN" dirty="0"/>
              <a:t>F1</a:t>
            </a:r>
            <a:r>
              <a:rPr lang="zh-CN" altLang="en-US" dirty="0"/>
              <a:t>为评判标准呢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6D300A-DE87-1273-D056-47CDDDD056C5}"/>
              </a:ext>
            </a:extLst>
          </p:cNvPr>
          <p:cNvSpPr txBox="1"/>
          <p:nvPr/>
        </p:nvSpPr>
        <p:spPr>
          <a:xfrm>
            <a:off x="7039304" y="583144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F1 是精确率和召回率的调和平均数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1361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">
            <a:extLst>
              <a:ext uri="{FF2B5EF4-FFF2-40B4-BE49-F238E27FC236}">
                <a16:creationId xmlns:a16="http://schemas.microsoft.com/office/drawing/2014/main" id="{16C87222-0F9B-5C08-AA41-F469D1ED10F6}"/>
              </a:ext>
            </a:extLst>
          </p:cNvPr>
          <p:cNvSpPr>
            <a:spLocks noGrp="1"/>
          </p:cNvSpPr>
          <p:nvPr/>
        </p:nvSpPr>
        <p:spPr>
          <a:xfrm>
            <a:off x="687462" y="86346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</a:t>
            </a:r>
            <a:r>
              <a:rPr lang="en-US"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277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21452-6A49-6CDD-A7CB-80023C09EFA5}"/>
              </a:ext>
            </a:extLst>
          </p:cNvPr>
          <p:cNvSpPr txBox="1"/>
          <p:nvPr/>
        </p:nvSpPr>
        <p:spPr>
          <a:xfrm>
            <a:off x="1336313" y="93121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最佳参数确定后，用 20 万条重新训练</a:t>
            </a:r>
            <a:endParaRPr lang="zh-CN" altLang="en-US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D49EB6-39C8-E129-95E9-3159F7A7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0577"/>
            <a:ext cx="7506086" cy="36674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151AED-901C-80A8-F536-CC84F4251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24" y="0"/>
            <a:ext cx="6274976" cy="36822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A42716-FB34-BB95-645F-31E06CD941A4}"/>
              </a:ext>
            </a:extLst>
          </p:cNvPr>
          <p:cNvSpPr txBox="1"/>
          <p:nvPr/>
        </p:nvSpPr>
        <p:spPr>
          <a:xfrm>
            <a:off x="552321" y="2657284"/>
            <a:ext cx="412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(2)</a:t>
            </a:r>
            <a:r>
              <a:rPr lang="zh-CN" altLang="en-US" dirty="0"/>
              <a:t>全量测试三种模型</a:t>
            </a:r>
            <a:r>
              <a:rPr lang="en-US" altLang="zh-CN" dirty="0"/>
              <a:t>,</a:t>
            </a:r>
            <a:r>
              <a:rPr lang="zh-CN" altLang="en-US" dirty="0"/>
              <a:t>比较预测结果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BAF6D3-AACE-5D2B-6A4E-AAB04069C027}"/>
              </a:ext>
            </a:extLst>
          </p:cNvPr>
          <p:cNvSpPr txBox="1"/>
          <p:nvPr/>
        </p:nvSpPr>
        <p:spPr>
          <a:xfrm>
            <a:off x="9318922" y="3835126"/>
            <a:ext cx="2189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(1) </a:t>
            </a:r>
            <a:r>
              <a:rPr lang="zh-CN" altLang="en-US" dirty="0"/>
              <a:t>让模型再次学习并尝试预测</a:t>
            </a:r>
            <a:r>
              <a:rPr lang="en-US" altLang="zh-CN" dirty="0"/>
              <a:t>20</a:t>
            </a:r>
            <a:r>
              <a:rPr lang="zh-CN" altLang="en-US" dirty="0"/>
              <a:t>万条</a:t>
            </a:r>
          </a:p>
        </p:txBody>
      </p:sp>
      <p:sp>
        <p:nvSpPr>
          <p:cNvPr id="13" name="第三部分  模型训练与评价">
            <a:extLst>
              <a:ext uri="{FF2B5EF4-FFF2-40B4-BE49-F238E27FC236}">
                <a16:creationId xmlns:a16="http://schemas.microsoft.com/office/drawing/2014/main" id="{FC9ED84C-6F20-E23C-09E3-DC78699A1071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129013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">
            <a:extLst>
              <a:ext uri="{FF2B5EF4-FFF2-40B4-BE49-F238E27FC236}">
                <a16:creationId xmlns:a16="http://schemas.microsoft.com/office/drawing/2014/main" id="{ACA00AD1-4D2D-2261-3CF8-BA7CA82C3FE9}"/>
              </a:ext>
            </a:extLst>
          </p:cNvPr>
          <p:cNvSpPr>
            <a:spLocks noGrp="1"/>
          </p:cNvSpPr>
          <p:nvPr/>
        </p:nvSpPr>
        <p:spPr>
          <a:xfrm>
            <a:off x="687462" y="863465"/>
            <a:ext cx="752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0</a:t>
            </a:r>
            <a:r>
              <a:rPr lang="en-US" sz="27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277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241A45-1DDE-9272-CBD3-CA89B8833CAD}"/>
              </a:ext>
            </a:extLst>
          </p:cNvPr>
          <p:cNvSpPr txBox="1"/>
          <p:nvPr/>
        </p:nvSpPr>
        <p:spPr>
          <a:xfrm>
            <a:off x="1336313" y="931211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多层感知器</a:t>
            </a:r>
            <a:r>
              <a:rPr lang="zh-CN" altLang="zh-CN" b="1" dirty="0"/>
              <a:t>使用 6 万条</a:t>
            </a:r>
            <a:r>
              <a:rPr lang="zh-CN" altLang="en-US" b="1" dirty="0"/>
              <a:t>训练 </a:t>
            </a:r>
            <a:r>
              <a:rPr lang="zh-CN" altLang="zh-CN" b="1" dirty="0"/>
              <a:t>，并增加</a:t>
            </a:r>
            <a:r>
              <a:rPr lang="zh-CN" altLang="en-US" b="1" dirty="0"/>
              <a:t>逻辑回归</a:t>
            </a:r>
            <a:r>
              <a:rPr lang="zh-CN" altLang="zh-CN" b="1" dirty="0"/>
              <a:t>对照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0098F0-14AA-0EF5-AF11-48DA064B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04" y="1510582"/>
            <a:ext cx="11506791" cy="22289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034E10-505A-C2F4-21E9-D70E2100F999}"/>
              </a:ext>
            </a:extLst>
          </p:cNvPr>
          <p:cNvSpPr txBox="1"/>
          <p:nvPr/>
        </p:nvSpPr>
        <p:spPr>
          <a:xfrm>
            <a:off x="2733164" y="3739547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多层感知器</a:t>
            </a:r>
            <a:r>
              <a:rPr lang="zh-CN" altLang="zh-CN" dirty="0"/>
              <a:t>计算量较大，只使用 6 万条</a:t>
            </a:r>
            <a:r>
              <a:rPr lang="en-US" altLang="zh-CN" dirty="0"/>
              <a:t>(</a:t>
            </a:r>
            <a:r>
              <a:rPr lang="zh-CN" altLang="en-US" dirty="0"/>
              <a:t>调参用的数据集</a:t>
            </a:r>
            <a:r>
              <a:rPr lang="en-US" altLang="zh-CN" dirty="0"/>
              <a:t>)</a:t>
            </a:r>
            <a:br>
              <a:rPr lang="zh-CN" altLang="zh-CN" dirty="0"/>
            </a:b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EC8A58-91FB-1F19-C40A-0CAE87A8E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04" y="4201951"/>
            <a:ext cx="9569942" cy="257823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FDAB8C5-5A7C-2A5C-6576-2FF1DC69606B}"/>
              </a:ext>
            </a:extLst>
          </p:cNvPr>
          <p:cNvSpPr txBox="1"/>
          <p:nvPr/>
        </p:nvSpPr>
        <p:spPr>
          <a:xfrm>
            <a:off x="10132043" y="4817477"/>
            <a:ext cx="1717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同时训练 6 万条</a:t>
            </a:r>
            <a:r>
              <a:rPr lang="zh-CN" altLang="en-US" dirty="0"/>
              <a:t>逻辑回归</a:t>
            </a:r>
            <a:r>
              <a:rPr lang="zh-CN" altLang="zh-CN" dirty="0"/>
              <a:t>，减少样本量差异影响</a:t>
            </a:r>
            <a:endParaRPr lang="zh-CN" altLang="en-US" dirty="0"/>
          </a:p>
        </p:txBody>
      </p:sp>
      <p:sp>
        <p:nvSpPr>
          <p:cNvPr id="14" name="第三部分  模型训练与评价">
            <a:extLst>
              <a:ext uri="{FF2B5EF4-FFF2-40B4-BE49-F238E27FC236}">
                <a16:creationId xmlns:a16="http://schemas.microsoft.com/office/drawing/2014/main" id="{ED66A1A0-2725-33F1-F96B-5F0C7357638D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780818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第三部分  模型训练与评价">
            <a:extLst>
              <a:ext uri="{FF2B5EF4-FFF2-40B4-BE49-F238E27FC236}">
                <a16:creationId xmlns:a16="http://schemas.microsoft.com/office/drawing/2014/main" id="{B915DF43-9F33-4832-8581-30409BD4A3A0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模型对比：逻辑回归是当前的候选方案">
            <a:extLst>
              <a:ext uri="{FF2B5EF4-FFF2-40B4-BE49-F238E27FC236}">
                <a16:creationId xmlns:a16="http://schemas.microsoft.com/office/drawing/2014/main" id="{586E4DA5-4942-4D43-B20C-685F8EBD5F10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模型对比</a:t>
            </a:r>
            <a:r>
              <a:rPr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：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效果与训练成本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5EFE61E4-D65B-41FA-B73D-846FA3448D1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5931" y="1271375"/>
            <a:ext cx="11543937" cy="4508599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B66519D3-6633-431C-9290-05A0312349D7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20万条训练的逻辑回归：积极类 F1 = 0.9135">
            <a:extLst>
              <a:ext uri="{FF2B5EF4-FFF2-40B4-BE49-F238E27FC236}">
                <a16:creationId xmlns:a16="http://schemas.microsoft.com/office/drawing/2014/main" id="{074C9DA0-51A5-4081-BC3E-25BC25EFB42F}"/>
              </a:ext>
            </a:extLst>
          </p:cNvPr>
          <p:cNvSpPr>
            <a:spLocks noGrp="1"/>
          </p:cNvSpPr>
          <p:nvPr/>
        </p:nvSpPr>
        <p:spPr>
          <a:xfrm>
            <a:off x="1098003" y="5747831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2025" b="1" dirty="0">
                <a:solidFill>
                  <a:srgbClr val="285AA7"/>
                </a:solidFill>
                <a:latin typeface="Noto Sans CJK SC"/>
              </a:rPr>
              <a:t>20 万条训练下，逻辑回归积极类 F1 = 0.9135；SVM 接近，但训练时间更长。</a:t>
            </a:r>
            <a:endParaRPr sz="2025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原图含5个模型/配置。MLP与LR子集对照为6万条，耗时为本次设备上的分类器训练">
            <a:extLst>
              <a:ext uri="{FF2B5EF4-FFF2-40B4-BE49-F238E27FC236}">
                <a16:creationId xmlns:a16="http://schemas.microsoft.com/office/drawing/2014/main" id="{5AD9A662-C86D-41CF-9FF3-B3265EAB937E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原图含5个模型/配置。MLP与LR子集对照为6万条，耗时为本次设备上的分类器训练时间。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1B5DE-DACC-24F9-5B59-63A5001D35E1}"/>
              </a:ext>
            </a:extLst>
          </p:cNvPr>
          <p:cNvSpPr txBox="1"/>
          <p:nvPr/>
        </p:nvSpPr>
        <p:spPr>
          <a:xfrm>
            <a:off x="190691" y="2100842"/>
            <a:ext cx="74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 </a:t>
            </a:r>
            <a:r>
              <a:rPr lang="zh-CN" altLang="en-US" dirty="0"/>
              <a:t>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FBEAA9-E917-7720-845F-2E14F216BCA7}"/>
              </a:ext>
            </a:extLst>
          </p:cNvPr>
          <p:cNvSpPr txBox="1"/>
          <p:nvPr/>
        </p:nvSpPr>
        <p:spPr>
          <a:xfrm>
            <a:off x="162116" y="2786897"/>
            <a:ext cx="74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 </a:t>
            </a:r>
            <a:r>
              <a:rPr lang="zh-CN" altLang="en-US" dirty="0"/>
              <a:t>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8A72C-8453-D13A-94B5-C0EC7D2C904A}"/>
              </a:ext>
            </a:extLst>
          </p:cNvPr>
          <p:cNvSpPr txBox="1"/>
          <p:nvPr/>
        </p:nvSpPr>
        <p:spPr>
          <a:xfrm>
            <a:off x="162115" y="4748896"/>
            <a:ext cx="74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 </a:t>
            </a:r>
            <a:r>
              <a:rPr lang="zh-CN" altLang="en-US" dirty="0"/>
              <a:t>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9C0ABC-F35F-977A-8840-816937A379CE}"/>
              </a:ext>
            </a:extLst>
          </p:cNvPr>
          <p:cNvSpPr txBox="1"/>
          <p:nvPr/>
        </p:nvSpPr>
        <p:spPr>
          <a:xfrm>
            <a:off x="175845" y="4095987"/>
            <a:ext cx="74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 </a:t>
            </a:r>
            <a:r>
              <a:rPr lang="zh-CN" altLang="en-US" dirty="0"/>
              <a:t>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467A7D-1ACF-A345-AFBE-DF2FD377107E}"/>
              </a:ext>
            </a:extLst>
          </p:cNvPr>
          <p:cNvSpPr txBox="1"/>
          <p:nvPr/>
        </p:nvSpPr>
        <p:spPr>
          <a:xfrm>
            <a:off x="175845" y="3629743"/>
            <a:ext cx="74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 </a:t>
            </a:r>
            <a:r>
              <a:rPr lang="zh-CN" altLang="en-US" dirty="0"/>
              <a:t>万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45C045C-B6CE-139E-B8CC-B0214FBB5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9" y="6271128"/>
            <a:ext cx="10160522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77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第三部分  模型训练与评价">
            <a:extLst>
              <a:ext uri="{FF2B5EF4-FFF2-40B4-BE49-F238E27FC236}">
                <a16:creationId xmlns:a16="http://schemas.microsoft.com/office/drawing/2014/main" id="{C51707E6-A5F0-41D7-A03C-F56CED9D9782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同样6万条样本，MLP没有显示额外收益">
            <a:extLst>
              <a:ext uri="{FF2B5EF4-FFF2-40B4-BE49-F238E27FC236}">
                <a16:creationId xmlns:a16="http://schemas.microsoft.com/office/drawing/2014/main" id="{D1EC9FAE-B9D9-4E7F-AE49-2EEED9950E4C}"/>
              </a:ext>
            </a:extLst>
          </p:cNvPr>
          <p:cNvSpPr>
            <a:spLocks noGrp="1"/>
          </p:cNvSpPr>
          <p:nvPr/>
        </p:nvSpPr>
        <p:spPr>
          <a:xfrm>
            <a:off x="571500" y="788061"/>
            <a:ext cx="11049000" cy="622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6 万条对照：</a:t>
            </a:r>
            <a:r>
              <a:rPr lang="zh-CN" altLang="en-US" sz="3150" b="1" dirty="0">
                <a:solidFill>
                  <a:srgbClr val="122D49"/>
                </a:solidFill>
                <a:latin typeface="Noto Sans CJK SC"/>
              </a:rPr>
              <a:t>逻辑回归</a:t>
            </a:r>
            <a:r>
              <a:rPr lang="en-US" altLang="zh-CN" sz="3150" b="1" dirty="0">
                <a:solidFill>
                  <a:srgbClr val="122D49"/>
                </a:solidFill>
                <a:latin typeface="Noto Sans CJK SC"/>
              </a:rPr>
              <a:t>(LR)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与 </a:t>
            </a:r>
            <a:r>
              <a:rPr lang="zh-CN" altLang="en-US" sz="3150" b="1" dirty="0">
                <a:solidFill>
                  <a:srgbClr val="122D49"/>
                </a:solidFill>
                <a:latin typeface="Noto Sans CJK SC"/>
              </a:rPr>
              <a:t>多层感知器</a:t>
            </a:r>
            <a:r>
              <a:rPr lang="en-US" altLang="zh-CN" sz="3150" b="1" dirty="0">
                <a:solidFill>
                  <a:srgbClr val="122D49"/>
                </a:solidFill>
                <a:latin typeface="Noto Sans CJK SC"/>
              </a:rPr>
              <a:t>(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MLP</a:t>
            </a:r>
            <a:r>
              <a:rPr lang="en-US" altLang="zh-CN" sz="3150" b="1" dirty="0">
                <a:solidFill>
                  <a:srgbClr val="122D49"/>
                </a:solidFill>
                <a:latin typeface="Noto Sans CJK SC"/>
              </a:rPr>
              <a:t>)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 </a:t>
            </a:r>
            <a:r>
              <a:rPr lang="zh-CN" altLang="en-US" sz="3150" b="1" dirty="0">
                <a:solidFill>
                  <a:srgbClr val="122D49"/>
                </a:solidFill>
                <a:latin typeface="Noto Sans CJK SC"/>
              </a:rPr>
              <a:t>的</a:t>
            </a: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F1 接近</a:t>
            </a:r>
            <a:endParaRPr lang="en-US" altLang="zh-CN" sz="3150" b="1" dirty="0">
              <a:solidFill>
                <a:srgbClr val="122D49"/>
              </a:solidFill>
              <a:latin typeface="Noto Sans CJK SC"/>
            </a:endParaRPr>
          </a:p>
          <a:p>
            <a:pPr algn="ctr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但训练时间差异明显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EEC6D272-59C7-4D9B-8D08-166ABAC86E0A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1431" y="1693897"/>
            <a:ext cx="9320488" cy="3771900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5FF23424-041A-42FC-B220-9243D797F772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A751F5F-BCB7-E0ED-955B-E8C98833C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645" y="4514741"/>
            <a:ext cx="8268125" cy="141612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8C9B7BB-9757-90BF-17C5-D9D29EA99CC1}"/>
              </a:ext>
            </a:extLst>
          </p:cNvPr>
          <p:cNvSpPr txBox="1"/>
          <p:nvPr/>
        </p:nvSpPr>
        <p:spPr>
          <a:xfrm>
            <a:off x="1426831" y="6183868"/>
            <a:ext cx="906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在本次输入、样本量和 MLP 配置下，没有观察到明显的 F1 提升，同时训练耗时明显增加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685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模型对比：逻辑回归是当前的候选方案">
            <a:extLst>
              <a:ext uri="{FF2B5EF4-FFF2-40B4-BE49-F238E27FC236}">
                <a16:creationId xmlns:a16="http://schemas.microsoft.com/office/drawing/2014/main" id="{5BADDF8A-FAE9-5E7D-0BF8-34C72A801CE4}"/>
              </a:ext>
            </a:extLst>
          </p:cNvPr>
          <p:cNvSpPr>
            <a:spLocks noGrp="1"/>
          </p:cNvSpPr>
          <p:nvPr/>
        </p:nvSpPr>
        <p:spPr>
          <a:xfrm>
            <a:off x="571499" y="745512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dirty="0" err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模型对比</a:t>
            </a:r>
            <a:r>
              <a:rPr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：</a:t>
            </a:r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四个模型的优劣度分析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第三部分  模型训练与评价">
            <a:extLst>
              <a:ext uri="{FF2B5EF4-FFF2-40B4-BE49-F238E27FC236}">
                <a16:creationId xmlns:a16="http://schemas.microsoft.com/office/drawing/2014/main" id="{4286F9E1-1230-4CF0-FB29-90ECC6A0AACB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8C36F9-3C0A-20BE-E756-6B7A9DE6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4319"/>
            <a:ext cx="12239222" cy="336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42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模型对比：逻辑回归是当前的候选方案">
            <a:extLst>
              <a:ext uri="{FF2B5EF4-FFF2-40B4-BE49-F238E27FC236}">
                <a16:creationId xmlns:a16="http://schemas.microsoft.com/office/drawing/2014/main" id="{F1A66681-D5EA-8222-EBA1-7A56050FA73F}"/>
              </a:ext>
            </a:extLst>
          </p:cNvPr>
          <p:cNvSpPr>
            <a:spLocks noGrp="1"/>
          </p:cNvSpPr>
          <p:nvPr/>
        </p:nvSpPr>
        <p:spPr>
          <a:xfrm>
            <a:off x="471841" y="370397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150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可视化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B8B0EC-E44A-C7B6-9B22-8018DE92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09" y="1056197"/>
            <a:ext cx="5345003" cy="45276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1B1E24-6821-9F80-230B-1A96052B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3103"/>
            <a:ext cx="6250686" cy="46085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87B7194-BCC6-508E-A497-6EBE1C2DED45}"/>
              </a:ext>
            </a:extLst>
          </p:cNvPr>
          <p:cNvSpPr txBox="1"/>
          <p:nvPr/>
        </p:nvSpPr>
        <p:spPr>
          <a:xfrm>
            <a:off x="2530712" y="5858566"/>
            <a:ext cx="159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训练耗时对比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DBD990-BB1E-BE46-8669-E828F4E8FEF9}"/>
              </a:ext>
            </a:extLst>
          </p:cNvPr>
          <p:cNvSpPr txBox="1"/>
          <p:nvPr/>
        </p:nvSpPr>
        <p:spPr>
          <a:xfrm>
            <a:off x="8290207" y="5853418"/>
            <a:ext cx="20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四个指标对比分析</a:t>
            </a:r>
          </a:p>
        </p:txBody>
      </p:sp>
    </p:spTree>
    <p:extLst>
      <p:ext uri="{BB962C8B-B14F-4D97-AF65-F5344CB8AC3E}">
        <p14:creationId xmlns:p14="http://schemas.microsoft.com/office/powerpoint/2010/main" val="4064808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第三部分  模型训练与评价">
            <a:extLst>
              <a:ext uri="{FF2B5EF4-FFF2-40B4-BE49-F238E27FC236}">
                <a16:creationId xmlns:a16="http://schemas.microsoft.com/office/drawing/2014/main" id="{B62B5FC6-84D1-4837-AF2F-4FC7015A1374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四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模型训练与评价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评价指标：差评筛查需要单独看消极类">
            <a:extLst>
              <a:ext uri="{FF2B5EF4-FFF2-40B4-BE49-F238E27FC236}">
                <a16:creationId xmlns:a16="http://schemas.microsoft.com/office/drawing/2014/main" id="{C46613CE-B91B-4E74-ACDB-526D261B5B52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zh-CN" sz="3150" b="1" dirty="0">
                <a:solidFill>
                  <a:srgbClr val="122D49"/>
                </a:solidFill>
                <a:latin typeface="Noto Sans CJK SC"/>
              </a:rPr>
              <a:t>最终评价：混淆矩阵揭示差评漏判</a:t>
            </a:r>
            <a:endParaRPr sz="3150" b="1" dirty="0">
              <a:solidFill>
                <a:srgbClr val="122D4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9D12618E-CF07-4F99-B1E3-488ABD0FB284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68700"/>
          <a:stretch>
            <a:fillRect/>
          </a:stretch>
        </p:blipFill>
        <p:spPr>
          <a:xfrm>
            <a:off x="369439" y="1486267"/>
            <a:ext cx="4380932" cy="3885465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3BCED9B3-D9E7-4446-B8F1-0F734DD0D31D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91.01%">
            <a:extLst>
              <a:ext uri="{FF2B5EF4-FFF2-40B4-BE49-F238E27FC236}">
                <a16:creationId xmlns:a16="http://schemas.microsoft.com/office/drawing/2014/main" id="{D8C22938-C899-42D3-BA25-1CF1FD99277E}"/>
              </a:ext>
            </a:extLst>
          </p:cNvPr>
          <p:cNvSpPr>
            <a:spLocks noGrp="1"/>
          </p:cNvSpPr>
          <p:nvPr/>
        </p:nvSpPr>
        <p:spPr>
          <a:xfrm>
            <a:off x="9223269" y="1705650"/>
            <a:ext cx="1905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7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91.01%</a:t>
            </a:r>
          </a:p>
        </p:txBody>
      </p:sp>
      <p:sp>
        <p:nvSpPr>
          <p:cNvPr id="7" name="消极类召回率&#10;1,798条差评被判为好评">
            <a:extLst>
              <a:ext uri="{FF2B5EF4-FFF2-40B4-BE49-F238E27FC236}">
                <a16:creationId xmlns:a16="http://schemas.microsoft.com/office/drawing/2014/main" id="{F3C0BFE8-7659-4872-A940-5877278D746C}"/>
              </a:ext>
            </a:extLst>
          </p:cNvPr>
          <p:cNvSpPr>
            <a:spLocks noGrp="1"/>
          </p:cNvSpPr>
          <p:nvPr/>
        </p:nvSpPr>
        <p:spPr>
          <a:xfrm>
            <a:off x="9223269" y="2855804"/>
            <a:ext cx="2754682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消极类召回率</a:t>
            </a:r>
            <a:endParaRPr sz="18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1,798条差评被判为好评</a:t>
            </a:r>
          </a:p>
        </p:txBody>
      </p:sp>
      <p:sp>
        <p:nvSpPr>
          <p:cNvPr id="8" name="91.56%">
            <a:extLst>
              <a:ext uri="{FF2B5EF4-FFF2-40B4-BE49-F238E27FC236}">
                <a16:creationId xmlns:a16="http://schemas.microsoft.com/office/drawing/2014/main" id="{372AF8AB-5647-458C-AE2E-CE08F73DAE23}"/>
              </a:ext>
            </a:extLst>
          </p:cNvPr>
          <p:cNvSpPr>
            <a:spLocks noGrp="1"/>
          </p:cNvSpPr>
          <p:nvPr/>
        </p:nvSpPr>
        <p:spPr>
          <a:xfrm>
            <a:off x="5610580" y="1710413"/>
            <a:ext cx="384810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 dirty="0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91.56%</a:t>
            </a:r>
          </a:p>
        </p:txBody>
      </p:sp>
      <p:sp>
        <p:nvSpPr>
          <p:cNvPr id="9" name="消极类精确率&#10;1,676条好评被判为差评">
            <a:extLst>
              <a:ext uri="{FF2B5EF4-FFF2-40B4-BE49-F238E27FC236}">
                <a16:creationId xmlns:a16="http://schemas.microsoft.com/office/drawing/2014/main" id="{EE83C7AD-55EF-491A-8C28-EB8E10ED9DF1}"/>
              </a:ext>
            </a:extLst>
          </p:cNvPr>
          <p:cNvSpPr>
            <a:spLocks noGrp="1"/>
          </p:cNvSpPr>
          <p:nvPr/>
        </p:nvSpPr>
        <p:spPr>
          <a:xfrm>
            <a:off x="5610580" y="2851042"/>
            <a:ext cx="2754682" cy="847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 err="1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消极类精确率</a:t>
            </a:r>
            <a:endParaRPr sz="1875" b="0" dirty="0">
              <a:solidFill>
                <a:srgbClr val="6170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dirty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1,676条好评被判为差评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EF73939-0E8A-6AA7-76BE-A850C491A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593" y="4059346"/>
            <a:ext cx="6787186" cy="9225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192E7E-A13D-B606-FDE5-2B12BC27E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363" y="5423471"/>
            <a:ext cx="5469648" cy="131904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BFC040-C273-A36C-30CF-0F2F52ED6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863" y="5451415"/>
            <a:ext cx="3638737" cy="11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0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0BB4E1-733B-AFC2-1EF4-1E881A191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058316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D288ED0-1C04-3743-9649-6412C91A2DBD}"/>
              </a:ext>
            </a:extLst>
          </p:cNvPr>
          <p:cNvSpPr txBox="1"/>
          <p:nvPr/>
        </p:nvSpPr>
        <p:spPr>
          <a:xfrm>
            <a:off x="4062428" y="4316117"/>
            <a:ext cx="3882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Noto Sans CJK SC"/>
                <a:ea typeface="Noto Sans CJK SC"/>
                <a:cs typeface="Noto Sans CJK SC"/>
              </a:rPr>
              <a:t>复杂语言与改进</a:t>
            </a:r>
            <a:endParaRPr lang="zh-CN" altLang="en-US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3CC43A-BD7F-E55F-7CE3-5A7BA87CFDA9}"/>
              </a:ext>
            </a:extLst>
          </p:cNvPr>
          <p:cNvSpPr/>
          <p:nvPr/>
        </p:nvSpPr>
        <p:spPr>
          <a:xfrm>
            <a:off x="4309354" y="1466458"/>
            <a:ext cx="32624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第五部分</a:t>
            </a:r>
          </a:p>
        </p:txBody>
      </p:sp>
    </p:spTree>
    <p:extLst>
      <p:ext uri="{BB962C8B-B14F-4D97-AF65-F5344CB8AC3E}">
        <p14:creationId xmlns:p14="http://schemas.microsoft.com/office/powerpoint/2010/main" val="4255271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第四部分  复杂语言与特征改进">
            <a:extLst>
              <a:ext uri="{FF2B5EF4-FFF2-40B4-BE49-F238E27FC236}">
                <a16:creationId xmlns:a16="http://schemas.microsoft.com/office/drawing/2014/main" id="{846FB1C8-3976-4B19-BF4C-883AD620DFBA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复杂表达：正向词可能出现在负向评价中">
            <a:extLst>
              <a:ext uri="{FF2B5EF4-FFF2-40B4-BE49-F238E27FC236}">
                <a16:creationId xmlns:a16="http://schemas.microsoft.com/office/drawing/2014/main" id="{C73898B7-0DF2-4A34-92C4-EF4323F1787B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复杂表达：正向词可能出现在负向评价中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51CF5A1E-E46E-4BE2-94AF-C4B1572A2DE0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4" name="“Well done, it broke on day one.&#10;Brillia">
            <a:extLst>
              <a:ext uri="{FF2B5EF4-FFF2-40B4-BE49-F238E27FC236}">
                <a16:creationId xmlns:a16="http://schemas.microsoft.com/office/drawing/2014/main" id="{6F86C2C5-427E-477D-8C22-1E1F28070084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11068050" cy="1114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“Well done, it broke on day one.</a:t>
            </a:r>
          </a:p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Brilliant design!”</a:t>
            </a:r>
          </a:p>
        </p:txBody>
      </p:sp>
      <p:sp>
        <p:nvSpPr>
          <p:cNvPr id="5" name="代码中的反讽示例">
            <a:extLst>
              <a:ext uri="{FF2B5EF4-FFF2-40B4-BE49-F238E27FC236}">
                <a16:creationId xmlns:a16="http://schemas.microsoft.com/office/drawing/2014/main" id="{EE5EC116-7F74-45E2-8EFF-DD8C3D0E9A56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63817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代码中的反讽示例</a:t>
            </a:r>
          </a:p>
        </p:txBody>
      </p:sp>
      <p:sp>
        <p:nvSpPr>
          <p:cNvPr id="6" name="+0.525">
            <a:extLst>
              <a:ext uri="{FF2B5EF4-FFF2-40B4-BE49-F238E27FC236}">
                <a16:creationId xmlns:a16="http://schemas.microsoft.com/office/drawing/2014/main" id="{041072B4-CAAA-4570-8B42-19A81C50D5A5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4438650" cy="847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425" b="1">
                <a:solidFill>
                  <a:srgbClr val="E568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25" b="1">
                <a:solidFill>
                  <a:srgbClr val="E56843"/>
                </a:solidFill>
                <a:latin typeface="Noto Sans CJK SC"/>
                <a:ea typeface="Noto Sans CJK SC"/>
                <a:cs typeface="Noto Sans CJK SC"/>
              </a:rPr>
              <a:t>+0.525</a:t>
            </a:r>
          </a:p>
        </p:txBody>
      </p:sp>
      <p:sp>
        <p:nvSpPr>
          <p:cNvPr id="7" name="VADER compound，判为积极">
            <a:extLst>
              <a:ext uri="{FF2B5EF4-FFF2-40B4-BE49-F238E27FC236}">
                <a16:creationId xmlns:a16="http://schemas.microsoft.com/office/drawing/2014/main" id="{64EEBEFD-458D-40AD-B0BC-6E4D3FE4B212}"/>
              </a:ext>
            </a:extLst>
          </p:cNvPr>
          <p:cNvSpPr>
            <a:spLocks noGrp="1"/>
          </p:cNvSpPr>
          <p:nvPr/>
        </p:nvSpPr>
        <p:spPr>
          <a:xfrm>
            <a:off x="628650" y="4629150"/>
            <a:ext cx="57245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VADER compound，判为积极</a:t>
            </a:r>
          </a:p>
        </p:txBody>
      </p:sp>
      <p:sp>
        <p:nvSpPr>
          <p:cNvPr id="8" name="为什么继续分析错误">
            <a:extLst>
              <a:ext uri="{FF2B5EF4-FFF2-40B4-BE49-F238E27FC236}">
                <a16:creationId xmlns:a16="http://schemas.microsoft.com/office/drawing/2014/main" id="{8C3CDED9-011A-43DF-9DCB-B21913A512D9}"/>
              </a:ext>
            </a:extLst>
          </p:cNvPr>
          <p:cNvSpPr>
            <a:spLocks noGrp="1"/>
          </p:cNvSpPr>
          <p:nvPr/>
        </p:nvSpPr>
        <p:spPr>
          <a:xfrm>
            <a:off x="6838950" y="3781425"/>
            <a:ext cx="46577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为什么继续分析错误</a:t>
            </a:r>
          </a:p>
        </p:txBody>
      </p:sp>
      <p:sp>
        <p:nvSpPr>
          <p:cNvPr id="9" name="整体分数无法说明难点&#10;先定位表达类型，再提出改进假设">
            <a:extLst>
              <a:ext uri="{FF2B5EF4-FFF2-40B4-BE49-F238E27FC236}">
                <a16:creationId xmlns:a16="http://schemas.microsoft.com/office/drawing/2014/main" id="{0132E8AE-3F58-4812-9213-2FE74DE7FA17}"/>
              </a:ext>
            </a:extLst>
          </p:cNvPr>
          <p:cNvSpPr>
            <a:spLocks noGrp="1"/>
          </p:cNvSpPr>
          <p:nvPr/>
        </p:nvSpPr>
        <p:spPr>
          <a:xfrm>
            <a:off x="6838950" y="4248150"/>
            <a:ext cx="46577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整体分数无法说明难点</a:t>
            </a:r>
          </a:p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先定位表达类型，再提出改进假设</a:t>
            </a:r>
          </a:p>
        </p:txBody>
      </p:sp>
      <p:sp>
        <p:nvSpPr>
          <p:cNvPr id="10" name="示例来自Notebook模块5-A。VADER是规则与词典工具，本项目未将其视为">
            <a:extLst>
              <a:ext uri="{FF2B5EF4-FFF2-40B4-BE49-F238E27FC236}">
                <a16:creationId xmlns:a16="http://schemas.microsoft.com/office/drawing/2014/main" id="{BC6CAFFF-1B26-4DA6-A166-80FB1090A748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示例来自Notebook模块5-A。VADER是规则与词典工具，本项目未将其视为人工语义判断。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660337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第四部分  复杂语言与特征改进">
            <a:extLst>
              <a:ext uri="{FF2B5EF4-FFF2-40B4-BE49-F238E27FC236}">
                <a16:creationId xmlns:a16="http://schemas.microsoft.com/office/drawing/2014/main" id="{C83A6B85-8875-46D4-93EE-1563DCEEB7FD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特征改进：补充词典分数与句子结构">
            <a:extLst>
              <a:ext uri="{FF2B5EF4-FFF2-40B4-BE49-F238E27FC236}">
                <a16:creationId xmlns:a16="http://schemas.microsoft.com/office/drawing/2014/main" id="{8D9A6912-5F50-4F37-8BAD-5BEF7DA1DCCB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特征改进：补充词典分数与句子结构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9EEEA62D-4620-458A-8DA2-54CEAD52B03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533400" y="1752600"/>
          <a:ext cx="11125200" cy="2400300"/>
        </p:xfrm>
        <a:graphic>
          <a:graphicData uri="http://schemas.openxmlformats.org/drawingml/2006/table">
            <a:tbl>
              <a:tblPr/>
              <a:tblGrid>
                <a:gridCol w="25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特征组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技术内容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为什么尝试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VADER：4维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neg、neu、pos、compound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引入词典与规则的情感线索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结构特征：7维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字符数、词数、平均词长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感叹号、问号、大写比例、数字数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补充长度、标点与大写等信息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tandardScaler">
            <a:extLst>
              <a:ext uri="{FF2B5EF4-FFF2-40B4-BE49-F238E27FC236}">
                <a16:creationId xmlns:a16="http://schemas.microsoft.com/office/drawing/2014/main" id="{2C6C6557-398F-46C7-B89F-A073726AA077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4286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StandardScaler</a:t>
            </a:r>
          </a:p>
        </p:txBody>
      </p:sp>
      <p:sp>
        <p:nvSpPr>
          <p:cNvPr id="6" name="统一新增特征量纲，只在训练集拟合">
            <a:extLst>
              <a:ext uri="{FF2B5EF4-FFF2-40B4-BE49-F238E27FC236}">
                <a16:creationId xmlns:a16="http://schemas.microsoft.com/office/drawing/2014/main" id="{2FDB0605-BE8A-49D1-92A1-516EA78A8F7E}"/>
              </a:ext>
            </a:extLst>
          </p:cNvPr>
          <p:cNvSpPr>
            <a:spLocks noGrp="1"/>
          </p:cNvSpPr>
          <p:nvPr/>
        </p:nvSpPr>
        <p:spPr>
          <a:xfrm>
            <a:off x="4924425" y="4505325"/>
            <a:ext cx="65722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统一新增特征量纲，只在训练集拟合</a:t>
            </a:r>
          </a:p>
        </p:txBody>
      </p:sp>
      <p:sp>
        <p:nvSpPr>
          <p:cNvPr id="7" name="sparse.hstack">
            <a:extLst>
              <a:ext uri="{FF2B5EF4-FFF2-40B4-BE49-F238E27FC236}">
                <a16:creationId xmlns:a16="http://schemas.microsoft.com/office/drawing/2014/main" id="{628FEA43-A1B6-4B41-B7BB-DEE2DB644BB4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4286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sparse.hstack</a:t>
            </a:r>
          </a:p>
        </p:txBody>
      </p:sp>
      <p:sp>
        <p:nvSpPr>
          <p:cNvPr id="8" name="将标准化特征与TF-IDF稀疏矩阵拼接">
            <a:extLst>
              <a:ext uri="{FF2B5EF4-FFF2-40B4-BE49-F238E27FC236}">
                <a16:creationId xmlns:a16="http://schemas.microsoft.com/office/drawing/2014/main" id="{9A76BE0E-7D42-47D0-AD9B-8D39353F9F8D}"/>
              </a:ext>
            </a:extLst>
          </p:cNvPr>
          <p:cNvSpPr>
            <a:spLocks noGrp="1"/>
          </p:cNvSpPr>
          <p:nvPr/>
        </p:nvSpPr>
        <p:spPr>
          <a:xfrm>
            <a:off x="4924425" y="5191125"/>
            <a:ext cx="65722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将标准化特征与TF-IDF稀疏矩阵拼接</a:t>
            </a:r>
          </a:p>
        </p:txBody>
      </p:sp>
      <p:sp>
        <p:nvSpPr>
          <p:cNvPr id="9" name="词典与结构特征从原始 review 提取。消融中固定逻辑回归 C=1，区别于第三">
            <a:extLst>
              <a:ext uri="{FF2B5EF4-FFF2-40B4-BE49-F238E27FC236}">
                <a16:creationId xmlns:a16="http://schemas.microsoft.com/office/drawing/2014/main" id="{606E92C6-1323-41D2-BF59-AD2E77C25645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词典与结构特征从原始 review 提取。消融中固定逻辑回归 C=1，区别于第三部分的 C=5。</a:t>
            </a:r>
          </a:p>
        </p:txBody>
      </p:sp>
    </p:spTree>
    <p:extLst>
      <p:ext uri="{BB962C8B-B14F-4D97-AF65-F5344CB8AC3E}">
        <p14:creationId xmlns:p14="http://schemas.microsoft.com/office/powerpoint/2010/main" val="2080610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第四部分  复杂语言与特征改进">
            <a:extLst>
              <a:ext uri="{FF2B5EF4-FFF2-40B4-BE49-F238E27FC236}">
                <a16:creationId xmlns:a16="http://schemas.microsoft.com/office/drawing/2014/main" id="{A3C2AE35-EE01-4D85-A01D-5EDF78011C60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消融结果：结构特征小幅提升，词典特征未提升">
            <a:extLst>
              <a:ext uri="{FF2B5EF4-FFF2-40B4-BE49-F238E27FC236}">
                <a16:creationId xmlns:a16="http://schemas.microsoft.com/office/drawing/2014/main" id="{F130579E-263A-425B-96EE-C8C51AEAA379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消融结果：结构特征小幅提升，词典特征未提升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BA10C228-E510-4B6D-8379-F0B72040D09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13500"/>
          <a:stretch>
            <a:fillRect/>
          </a:stretch>
        </p:blipFill>
        <p:spPr>
          <a:xfrm>
            <a:off x="466725" y="1915083"/>
            <a:ext cx="8105775" cy="3418358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362C60AA-F3FB-4716-8DDE-8E5EEC34E0A8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固定模型">
            <a:extLst>
              <a:ext uri="{FF2B5EF4-FFF2-40B4-BE49-F238E27FC236}">
                <a16:creationId xmlns:a16="http://schemas.microsoft.com/office/drawing/2014/main" id="{EB299D82-33AF-49FD-AC54-A8C0BC182AC4}"/>
              </a:ext>
            </a:extLst>
          </p:cNvPr>
          <p:cNvSpPr>
            <a:spLocks noGrp="1"/>
          </p:cNvSpPr>
          <p:nvPr/>
        </p:nvSpPr>
        <p:spPr>
          <a:xfrm>
            <a:off x="8924925" y="1819275"/>
            <a:ext cx="27336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固定模型</a:t>
            </a:r>
          </a:p>
        </p:txBody>
      </p:sp>
      <p:sp>
        <p:nvSpPr>
          <p:cNvPr id="7" name="LR，C=1">
            <a:extLst>
              <a:ext uri="{FF2B5EF4-FFF2-40B4-BE49-F238E27FC236}">
                <a16:creationId xmlns:a16="http://schemas.microsoft.com/office/drawing/2014/main" id="{F9038C82-92AA-4D65-BCDE-3DE79D10AC1A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59080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LR，C=1</a:t>
            </a:r>
          </a:p>
        </p:txBody>
      </p:sp>
      <p:sp>
        <p:nvSpPr>
          <p:cNvPr id="8" name="加入结构特征&#10;F1 约为 0.9132">
            <a:extLst>
              <a:ext uri="{FF2B5EF4-FFF2-40B4-BE49-F238E27FC236}">
                <a16:creationId xmlns:a16="http://schemas.microsoft.com/office/drawing/2014/main" id="{F3D6C4E4-6D69-47EF-85C0-EB3AC40DAD3E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264795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加入结构特征</a:t>
            </a:r>
          </a:p>
          <a:p>
            <a:pPr algn="l">
              <a:def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F1 约为 0.9132</a:t>
            </a:r>
          </a:p>
        </p:txBody>
      </p:sp>
      <p:sp>
        <p:nvSpPr>
          <p:cNvPr id="9" name="提升幅度较小&#10;仍需重复验证">
            <a:extLst>
              <a:ext uri="{FF2B5EF4-FFF2-40B4-BE49-F238E27FC236}">
                <a16:creationId xmlns:a16="http://schemas.microsoft.com/office/drawing/2014/main" id="{B877CA32-A0A2-4B47-8DDE-3D7E0A442B90}"/>
              </a:ext>
            </a:extLst>
          </p:cNvPr>
          <p:cNvSpPr>
            <a:spLocks noGrp="1"/>
          </p:cNvSpPr>
          <p:nvPr/>
        </p:nvSpPr>
        <p:spPr>
          <a:xfrm>
            <a:off x="8934450" y="4572000"/>
            <a:ext cx="2686050" cy="828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提升幅度较小</a:t>
            </a:r>
          </a:p>
          <a:p>
            <a:pPr algn="l">
              <a:def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仍需重复验证</a:t>
            </a:r>
          </a:p>
        </p:txBody>
      </p:sp>
      <p:sp>
        <p:nvSpPr>
          <p:cNvPr id="10" name="原图增量按已舍入F1相减。精确输出为结构约+0.0013、VADER约−0.00">
            <a:extLst>
              <a:ext uri="{FF2B5EF4-FFF2-40B4-BE49-F238E27FC236}">
                <a16:creationId xmlns:a16="http://schemas.microsoft.com/office/drawing/2014/main" id="{39070BAE-C3C4-428D-B082-6E3FC76D72C6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原图增量按已舍入F1相减。精确输出为结构约+0.0013、VADER约−0.0008，尚无显著性验证。</a:t>
            </a:r>
          </a:p>
        </p:txBody>
      </p:sp>
    </p:spTree>
    <p:extLst>
      <p:ext uri="{BB962C8B-B14F-4D97-AF65-F5344CB8AC3E}">
        <p14:creationId xmlns:p14="http://schemas.microsoft.com/office/powerpoint/2010/main" val="1737557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第四部分  复杂语言与特征改进">
            <a:extLst>
              <a:ext uri="{FF2B5EF4-FFF2-40B4-BE49-F238E27FC236}">
                <a16:creationId xmlns:a16="http://schemas.microsoft.com/office/drawing/2014/main" id="{426E6D96-D331-43FE-BC05-695334AA5746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错误诊断：转折与词典失效样本值得重点复核">
            <a:extLst>
              <a:ext uri="{FF2B5EF4-FFF2-40B4-BE49-F238E27FC236}">
                <a16:creationId xmlns:a16="http://schemas.microsoft.com/office/drawing/2014/main" id="{23CC5DDA-09FA-4875-A7CF-B3EBB231E0B9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错误诊断：转折与词典失效样本值得重点复核</a:t>
            </a:r>
          </a:p>
        </p:txBody>
      </p:sp>
      <p:sp>
        <p:nvSpPr>
          <p:cNvPr id="3" name="22">
            <a:extLst>
              <a:ext uri="{FF2B5EF4-FFF2-40B4-BE49-F238E27FC236}">
                <a16:creationId xmlns:a16="http://schemas.microsoft.com/office/drawing/2014/main" id="{A3B6D535-1A90-4904-AD7B-B230CB1A4B1E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5848" y="1628775"/>
            <a:ext cx="9401254" cy="4019550"/>
          </a:xfrm>
          <a:prstGeom prst="rect">
            <a:avLst/>
          </a:prstGeom>
        </p:spPr>
      </p:pic>
      <p:sp>
        <p:nvSpPr>
          <p:cNvPr id="5" name="Source figure (non-editable)">
            <a:extLst>
              <a:ext uri="{FF2B5EF4-FFF2-40B4-BE49-F238E27FC236}">
                <a16:creationId xmlns:a16="http://schemas.microsoft.com/office/drawing/2014/main" id="{CBC26C80-D99A-46B2-82C6-93B4DBD35F46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Source figure (non-editable)</a:t>
            </a:r>
          </a:p>
        </p:txBody>
      </p:sp>
      <p:sp>
        <p:nvSpPr>
          <p:cNvPr id="6" name="用 str.contains 构造语言子集，再比较模型的表现">
            <a:extLst>
              <a:ext uri="{FF2B5EF4-FFF2-40B4-BE49-F238E27FC236}">
                <a16:creationId xmlns:a16="http://schemas.microsoft.com/office/drawing/2014/main" id="{8AC5587C-20F4-4B1B-B8EB-FF4107E570FD}"/>
              </a:ext>
            </a:extLst>
          </p:cNvPr>
          <p:cNvSpPr>
            <a:spLocks noGrp="1"/>
          </p:cNvSpPr>
          <p:nvPr/>
        </p:nvSpPr>
        <p:spPr>
          <a:xfrm>
            <a:off x="542925" y="55911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用 str.contains 构造语言子集，再比较模型的表现</a:t>
            </a:r>
          </a:p>
        </p:txBody>
      </p:sp>
      <p:sp>
        <p:nvSpPr>
          <p:cNvPr id="7" name="本页为LR C=1。子集可能重叠，差异是相关现象，不能直接归因为某一种表达。">
            <a:extLst>
              <a:ext uri="{FF2B5EF4-FFF2-40B4-BE49-F238E27FC236}">
                <a16:creationId xmlns:a16="http://schemas.microsoft.com/office/drawing/2014/main" id="{F83B5B53-B0CF-4866-BA1A-B108F95C7519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本页为LR C=1。子集可能重叠，差异是相关现象，不能直接归因为某一种表达。</a:t>
            </a:r>
          </a:p>
        </p:txBody>
      </p:sp>
    </p:spTree>
    <p:extLst>
      <p:ext uri="{BB962C8B-B14F-4D97-AF65-F5344CB8AC3E}">
        <p14:creationId xmlns:p14="http://schemas.microsoft.com/office/powerpoint/2010/main" val="1057955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第四部分  复杂语言与特征改进">
            <a:extLst>
              <a:ext uri="{FF2B5EF4-FFF2-40B4-BE49-F238E27FC236}">
                <a16:creationId xmlns:a16="http://schemas.microsoft.com/office/drawing/2014/main" id="{B8D862D6-BBAC-471C-8428-81F2023D6052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第四部分交付：把错误转化为可验证的改进">
            <a:extLst>
              <a:ext uri="{FF2B5EF4-FFF2-40B4-BE49-F238E27FC236}">
                <a16:creationId xmlns:a16="http://schemas.microsoft.com/office/drawing/2014/main" id="{F4DFCFA4-75CA-4F02-90DE-EEB40A84C038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第四部分交付：把错误转化为可验证的改进</a:t>
            </a:r>
          </a:p>
        </p:txBody>
      </p:sp>
      <p:sp>
        <p:nvSpPr>
          <p:cNvPr id="3" name="23">
            <a:extLst>
              <a:ext uri="{FF2B5EF4-FFF2-40B4-BE49-F238E27FC236}">
                <a16:creationId xmlns:a16="http://schemas.microsoft.com/office/drawing/2014/main" id="{12BB3FCC-55FE-4729-BB00-DD94EB645BD8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4" name="117条">
            <a:extLst>
              <a:ext uri="{FF2B5EF4-FFF2-40B4-BE49-F238E27FC236}">
                <a16:creationId xmlns:a16="http://schemas.microsoft.com/office/drawing/2014/main" id="{75FAD485-2B64-4C65-BB6D-8666F6D4BD15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1816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7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7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117条</a:t>
            </a:r>
          </a:p>
        </p:txBody>
      </p:sp>
      <p:sp>
        <p:nvSpPr>
          <p:cNvPr id="5" name="预测错误且模型置信度超过95%">
            <a:extLst>
              <a:ext uri="{FF2B5EF4-FFF2-40B4-BE49-F238E27FC236}">
                <a16:creationId xmlns:a16="http://schemas.microsoft.com/office/drawing/2014/main" id="{41D349CE-96BB-4B1D-8853-DC8E64085F6E}"/>
              </a:ext>
            </a:extLst>
          </p:cNvPr>
          <p:cNvSpPr>
            <a:spLocks noGrp="1"/>
          </p:cNvSpPr>
          <p:nvPr/>
        </p:nvSpPr>
        <p:spPr>
          <a:xfrm>
            <a:off x="628650" y="2714625"/>
            <a:ext cx="60102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344A"/>
                </a:solidFill>
                <a:latin typeface="Noto Sans CJK SC"/>
                <a:ea typeface="Noto Sans CJK SC"/>
                <a:cs typeface="Noto Sans CJK SC"/>
              </a:rPr>
              <a:t>预测错误且模型置信度超过95%</a:t>
            </a:r>
          </a:p>
        </p:txBody>
      </p:sp>
      <p:sp>
        <p:nvSpPr>
          <p:cNvPr id="6" name="人工复核候选">
            <a:extLst>
              <a:ext uri="{FF2B5EF4-FFF2-40B4-BE49-F238E27FC236}">
                <a16:creationId xmlns:a16="http://schemas.microsoft.com/office/drawing/2014/main" id="{F06C9269-46C0-49CB-85F9-7AC8876CDA3F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56769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人工复核候选</a:t>
            </a:r>
          </a:p>
        </p:txBody>
      </p:sp>
      <p:sp>
        <p:nvSpPr>
          <p:cNvPr id="7" name="检查混合情感、上下文和标签&#10;模型高置信度本身不能证明标签错">
            <a:extLst>
              <a:ext uri="{FF2B5EF4-FFF2-40B4-BE49-F238E27FC236}">
                <a16:creationId xmlns:a16="http://schemas.microsoft.com/office/drawing/2014/main" id="{D61755FF-56B0-4A3A-B351-57EB6D784A35}"/>
              </a:ext>
            </a:extLst>
          </p:cNvPr>
          <p:cNvSpPr>
            <a:spLocks noGrp="1"/>
          </p:cNvSpPr>
          <p:nvPr/>
        </p:nvSpPr>
        <p:spPr>
          <a:xfrm>
            <a:off x="628650" y="4019550"/>
            <a:ext cx="58293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检查混合情感、上下文和标签</a:t>
            </a:r>
          </a:p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模型高置信度本身不能证明标签错</a:t>
            </a:r>
          </a:p>
        </p:txBody>
      </p:sp>
      <p:sp>
        <p:nvSpPr>
          <p:cNvPr id="8" name="已有技术">
            <a:extLst>
              <a:ext uri="{FF2B5EF4-FFF2-40B4-BE49-F238E27FC236}">
                <a16:creationId xmlns:a16="http://schemas.microsoft.com/office/drawing/2014/main" id="{84687A40-3112-496A-9ECC-CD3BEACFF46E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已有技术</a:t>
            </a:r>
          </a:p>
        </p:txBody>
      </p:sp>
      <p:sp>
        <p:nvSpPr>
          <p:cNvPr id="9" name="predict_proba 定位高置信错误&#10;正则子集与典型样本回看">
            <a:extLst>
              <a:ext uri="{FF2B5EF4-FFF2-40B4-BE49-F238E27FC236}">
                <a16:creationId xmlns:a16="http://schemas.microsoft.com/office/drawing/2014/main" id="{9F33B7D5-3711-4807-996E-41CCC290829D}"/>
              </a:ext>
            </a:extLst>
          </p:cNvPr>
          <p:cNvSpPr>
            <a:spLocks noGrp="1"/>
          </p:cNvSpPr>
          <p:nvPr/>
        </p:nvSpPr>
        <p:spPr>
          <a:xfrm>
            <a:off x="7143750" y="2276475"/>
            <a:ext cx="44291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predict_proba 定位高置信错误</a:t>
            </a:r>
          </a:p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正则子集与典型样本回看</a:t>
            </a:r>
          </a:p>
        </p:txBody>
      </p:sp>
      <p:sp>
        <p:nvSpPr>
          <p:cNvPr id="10" name="下一步验证">
            <a:extLst>
              <a:ext uri="{FF2B5EF4-FFF2-40B4-BE49-F238E27FC236}">
                <a16:creationId xmlns:a16="http://schemas.microsoft.com/office/drawing/2014/main" id="{46D48C1E-7A19-4300-9FAF-AC18DA926C57}"/>
              </a:ext>
            </a:extLst>
          </p:cNvPr>
          <p:cNvSpPr>
            <a:spLocks noGrp="1"/>
          </p:cNvSpPr>
          <p:nvPr/>
        </p:nvSpPr>
        <p:spPr>
          <a:xfrm>
            <a:off x="7143750" y="37052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</a:p>
        </p:txBody>
      </p:sp>
      <p:sp>
        <p:nvSpPr>
          <p:cNvPr id="11" name="补充人工标注与困难样本&#10;验证子句、方面或上下文表示">
            <a:extLst>
              <a:ext uri="{FF2B5EF4-FFF2-40B4-BE49-F238E27FC236}">
                <a16:creationId xmlns:a16="http://schemas.microsoft.com/office/drawing/2014/main" id="{889D1020-5696-475B-A76C-856119AF3731}"/>
              </a:ext>
            </a:extLst>
          </p:cNvPr>
          <p:cNvSpPr>
            <a:spLocks noGrp="1"/>
          </p:cNvSpPr>
          <p:nvPr/>
        </p:nvSpPr>
        <p:spPr>
          <a:xfrm>
            <a:off x="7143750" y="4171950"/>
            <a:ext cx="4429125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补充人工标注与困难样本</a:t>
            </a:r>
          </a:p>
          <a:p>
            <a:pPr algn="l">
              <a:def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验证子句、方面或上下文表示</a:t>
            </a:r>
          </a:p>
        </p:txBody>
      </p:sp>
      <p:sp>
        <p:nvSpPr>
          <p:cNvPr id="12" name="输出包括 feature_improvement.csv、language_pa">
            <a:extLst>
              <a:ext uri="{FF2B5EF4-FFF2-40B4-BE49-F238E27FC236}">
                <a16:creationId xmlns:a16="http://schemas.microsoft.com/office/drawing/2014/main" id="{9C561F8F-9586-46E1-AA90-02C4F7D9352E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输出包括 feature_improvement.csv、language_patterns.csv 与错误样例，形成下一轮实验依据。</a:t>
            </a:r>
          </a:p>
        </p:txBody>
      </p:sp>
    </p:spTree>
    <p:extLst>
      <p:ext uri="{BB962C8B-B14F-4D97-AF65-F5344CB8AC3E}">
        <p14:creationId xmlns:p14="http://schemas.microsoft.com/office/powerpoint/2010/main" val="1661722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第四部分  复杂语言与特征改进">
            <a:extLst>
              <a:ext uri="{FF2B5EF4-FFF2-40B4-BE49-F238E27FC236}">
                <a16:creationId xmlns:a16="http://schemas.microsoft.com/office/drawing/2014/main" id="{5711E406-078E-4EE5-A70A-5250920B0F55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285A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四部分方法如何迁移到新场景">
            <a:extLst>
              <a:ext uri="{FF2B5EF4-FFF2-40B4-BE49-F238E27FC236}">
                <a16:creationId xmlns:a16="http://schemas.microsoft.com/office/drawing/2014/main" id="{DF78B803-140B-476B-8712-557552F0E714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9"/>
                </a:solidFill>
                <a:latin typeface="Noto Sans CJK SC"/>
                <a:ea typeface="Noto Sans CJK SC"/>
                <a:cs typeface="Noto Sans CJK SC"/>
              </a:rPr>
              <a:t>四部分方法如何迁移到新场景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E0CCBE20-62BD-49D5-B020-FC4A65E105E1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533400" y="1733550"/>
          <a:ext cx="11125200" cy="3276600"/>
        </p:xfrm>
        <a:graphic>
          <a:graphicData uri="http://schemas.openxmlformats.org/drawingml/2006/table">
            <a:tbl>
              <a:tblPr/>
              <a:tblGrid>
                <a:gridCol w="25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可以复用的做法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需要重新适配或验证</a:t>
                      </a:r>
                    </a:p>
                  </a:txBody>
                  <a:tcPr anchor="ctr">
                    <a:solidFill>
                      <a:srgbClr val="12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数据与预处理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质量检查、原文保留、分块与缓存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语言资源、标签含义、平台表达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文本向量化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表示方案对照、稀疏存储、固定转换器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目标词表、中文分词或字级特征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模型训练与评价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统一比较、训练内调参、成本记录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样本分布、指标重点、决策阈值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复杂语言与改进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错误切片、固定参数消融、人工复核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34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目标领域难点、词典适用性、新特征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迁移对象是实验方法，模型效果需要目标场景的数据证明">
            <a:extLst>
              <a:ext uri="{FF2B5EF4-FFF2-40B4-BE49-F238E27FC236}">
                <a16:creationId xmlns:a16="http://schemas.microsoft.com/office/drawing/2014/main" id="{A6C29921-B5BB-4049-8005-C8C12B03263D}"/>
              </a:ext>
            </a:extLst>
          </p:cNvPr>
          <p:cNvSpPr>
            <a:spLocks noGrp="1"/>
          </p:cNvSpPr>
          <p:nvPr/>
        </p:nvSpPr>
        <p:spPr>
          <a:xfrm>
            <a:off x="542925" y="55911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85AA7"/>
                </a:solidFill>
                <a:latin typeface="Noto Sans CJK SC"/>
                <a:ea typeface="Noto Sans CJK SC"/>
                <a:cs typeface="Noto Sans CJK SC"/>
              </a:rPr>
              <a:t>迁移对象是实验方法，模型效果需要目标场景的数据证明</a:t>
            </a:r>
          </a:p>
        </p:txBody>
      </p:sp>
      <p:sp>
        <p:nvSpPr>
          <p:cNvPr id="6" name="英文酒店评论、中文电商评价可作为迁移方案，目前尚无独立跨场景实验结果。">
            <a:extLst>
              <a:ext uri="{FF2B5EF4-FFF2-40B4-BE49-F238E27FC236}">
                <a16:creationId xmlns:a16="http://schemas.microsoft.com/office/drawing/2014/main" id="{C9F77536-88DE-466E-9279-429DAC11310C}"/>
              </a:ext>
            </a:extLst>
          </p:cNvPr>
          <p:cNvSpPr>
            <a:spLocks noGrp="1"/>
          </p:cNvSpPr>
          <p:nvPr/>
        </p:nvSpPr>
        <p:spPr>
          <a:xfrm>
            <a:off x="542925" y="61817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084"/>
                </a:solidFill>
                <a:latin typeface="Noto Sans CJK SC"/>
                <a:ea typeface="Noto Sans CJK SC"/>
                <a:cs typeface="Noto Sans CJK SC"/>
              </a:rPr>
              <a:t>英文酒店评论、中文电商评价可作为迁移方案，目前尚无独立跨场景实验结果。</a:t>
            </a:r>
          </a:p>
        </p:txBody>
      </p:sp>
    </p:spTree>
    <p:extLst>
      <p:ext uri="{BB962C8B-B14F-4D97-AF65-F5344CB8AC3E}">
        <p14:creationId xmlns:p14="http://schemas.microsoft.com/office/powerpoint/2010/main" val="1580172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第四部分  复杂语言与特征改进">
            <a:extLst>
              <a:ext uri="{FF2B5EF4-FFF2-40B4-BE49-F238E27FC236}">
                <a16:creationId xmlns:a16="http://schemas.microsoft.com/office/drawing/2014/main" id="{25255B4F-2AD5-479D-83D2-B30F1ABB2FC1}"/>
              </a:ext>
            </a:extLst>
          </p:cNvPr>
          <p:cNvSpPr>
            <a:spLocks noGrp="1"/>
          </p:cNvSpPr>
          <p:nvPr/>
        </p:nvSpPr>
        <p:spPr>
          <a:xfrm>
            <a:off x="542925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lang="zh-CN" altLang="en-US"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1200" b="1" dirty="0" err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部分</a:t>
            </a:r>
            <a:r>
              <a:rPr sz="1200" b="1" dirty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  </a:t>
            </a:r>
            <a:r>
              <a:rPr sz="1200" b="1" dirty="0" err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复杂语言与特征改进</a:t>
            </a:r>
            <a:endParaRPr sz="1200" b="1" dirty="0">
              <a:solidFill>
                <a:srgbClr val="A6C1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项目结论与下一步">
            <a:extLst>
              <a:ext uri="{FF2B5EF4-FFF2-40B4-BE49-F238E27FC236}">
                <a16:creationId xmlns:a16="http://schemas.microsoft.com/office/drawing/2014/main" id="{E9F8E002-2572-4680-8811-2525851CA8B5}"/>
              </a:ext>
            </a:extLst>
          </p:cNvPr>
          <p:cNvSpPr>
            <a:spLocks noGrp="1"/>
          </p:cNvSpPr>
          <p:nvPr/>
        </p:nvSpPr>
        <p:spPr>
          <a:xfrm>
            <a:off x="533400" y="657225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项目结论与下一步</a:t>
            </a:r>
          </a:p>
        </p:txBody>
      </p:sp>
      <p:sp>
        <p:nvSpPr>
          <p:cNvPr id="3" name="25">
            <a:extLst>
              <a:ext uri="{FF2B5EF4-FFF2-40B4-BE49-F238E27FC236}">
                <a16:creationId xmlns:a16="http://schemas.microsoft.com/office/drawing/2014/main" id="{4F284287-3E81-4677-8E6B-A8F8C75124EB}"/>
              </a:ext>
            </a:extLst>
          </p:cNvPr>
          <p:cNvSpPr>
            <a:spLocks noGrp="1"/>
          </p:cNvSpPr>
          <p:nvPr/>
        </p:nvSpPr>
        <p:spPr>
          <a:xfrm>
            <a:off x="10972800" y="6410325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96CA4098-356E-48B2-A7EF-E831655EDA3C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数据基础">
            <a:extLst>
              <a:ext uri="{FF2B5EF4-FFF2-40B4-BE49-F238E27FC236}">
                <a16:creationId xmlns:a16="http://schemas.microsoft.com/office/drawing/2014/main" id="{AA754A4B-472B-454B-9249-628978A9FDF7}"/>
              </a:ext>
            </a:extLst>
          </p:cNvPr>
          <p:cNvSpPr>
            <a:spLocks noGrp="1"/>
          </p:cNvSpPr>
          <p:nvPr/>
        </p:nvSpPr>
        <p:spPr>
          <a:xfrm>
            <a:off x="1609725" y="1685925"/>
            <a:ext cx="27717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数据基础</a:t>
            </a:r>
          </a:p>
        </p:txBody>
      </p:sp>
      <p:sp>
        <p:nvSpPr>
          <p:cNvPr id="6" name="完成24万条实验数据的解析与预处理">
            <a:extLst>
              <a:ext uri="{FF2B5EF4-FFF2-40B4-BE49-F238E27FC236}">
                <a16:creationId xmlns:a16="http://schemas.microsoft.com/office/drawing/2014/main" id="{CD95331F-A40F-47D3-A75C-A7C58BB2966E}"/>
              </a:ext>
            </a:extLst>
          </p:cNvPr>
          <p:cNvSpPr>
            <a:spLocks noGrp="1"/>
          </p:cNvSpPr>
          <p:nvPr/>
        </p:nvSpPr>
        <p:spPr>
          <a:xfrm>
            <a:off x="4419600" y="1685925"/>
            <a:ext cx="717232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完成24万条实验数据的解析与预处理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A8FCA682-3522-47F3-8B5F-C25F31499967}"/>
              </a:ext>
            </a:extLst>
          </p:cNvPr>
          <p:cNvSpPr>
            <a:spLocks noGrp="1"/>
          </p:cNvSpPr>
          <p:nvPr/>
        </p:nvSpPr>
        <p:spPr>
          <a:xfrm>
            <a:off x="590550" y="2628900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特征选择">
            <a:extLst>
              <a:ext uri="{FF2B5EF4-FFF2-40B4-BE49-F238E27FC236}">
                <a16:creationId xmlns:a16="http://schemas.microsoft.com/office/drawing/2014/main" id="{394D566C-9895-4D88-9EF2-5C9ACE358704}"/>
              </a:ext>
            </a:extLst>
          </p:cNvPr>
          <p:cNvSpPr>
            <a:spLocks noGrp="1"/>
          </p:cNvSpPr>
          <p:nvPr/>
        </p:nvSpPr>
        <p:spPr>
          <a:xfrm>
            <a:off x="1609725" y="2628900"/>
            <a:ext cx="27717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特征选择</a:t>
            </a:r>
          </a:p>
        </p:txBody>
      </p:sp>
      <p:sp>
        <p:nvSpPr>
          <p:cNvPr id="9" name="TF-IDF单词与双词方案进入模型比较">
            <a:extLst>
              <a:ext uri="{FF2B5EF4-FFF2-40B4-BE49-F238E27FC236}">
                <a16:creationId xmlns:a16="http://schemas.microsoft.com/office/drawing/2014/main" id="{034B0B2C-15EA-4F7C-B061-314D938528CD}"/>
              </a:ext>
            </a:extLst>
          </p:cNvPr>
          <p:cNvSpPr>
            <a:spLocks noGrp="1"/>
          </p:cNvSpPr>
          <p:nvPr/>
        </p:nvSpPr>
        <p:spPr>
          <a:xfrm>
            <a:off x="4419600" y="2628900"/>
            <a:ext cx="717232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TF-IDF单词与双词方案进入模型比较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B0AFAC7D-1B9F-4986-BD3D-88C7AB5AFE0E}"/>
              </a:ext>
            </a:extLst>
          </p:cNvPr>
          <p:cNvSpPr>
            <a:spLocks noGrp="1"/>
          </p:cNvSpPr>
          <p:nvPr/>
        </p:nvSpPr>
        <p:spPr>
          <a:xfrm>
            <a:off x="590550" y="357187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模型候选">
            <a:extLst>
              <a:ext uri="{FF2B5EF4-FFF2-40B4-BE49-F238E27FC236}">
                <a16:creationId xmlns:a16="http://schemas.microsoft.com/office/drawing/2014/main" id="{95E6B112-4B1B-4C78-B472-D5635719F23D}"/>
              </a:ext>
            </a:extLst>
          </p:cNvPr>
          <p:cNvSpPr>
            <a:spLocks noGrp="1"/>
          </p:cNvSpPr>
          <p:nvPr/>
        </p:nvSpPr>
        <p:spPr>
          <a:xfrm>
            <a:off x="1609725" y="3571875"/>
            <a:ext cx="27717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模型候选</a:t>
            </a:r>
          </a:p>
        </p:txBody>
      </p:sp>
      <p:sp>
        <p:nvSpPr>
          <p:cNvPr id="12" name="逻辑回归积极类F1为0.9135，作为后续基线">
            <a:extLst>
              <a:ext uri="{FF2B5EF4-FFF2-40B4-BE49-F238E27FC236}">
                <a16:creationId xmlns:a16="http://schemas.microsoft.com/office/drawing/2014/main" id="{66338981-F3EA-4357-9B2A-0ECBB294430C}"/>
              </a:ext>
            </a:extLst>
          </p:cNvPr>
          <p:cNvSpPr>
            <a:spLocks noGrp="1"/>
          </p:cNvSpPr>
          <p:nvPr/>
        </p:nvSpPr>
        <p:spPr>
          <a:xfrm>
            <a:off x="4419600" y="3571875"/>
            <a:ext cx="717232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逻辑回归积极类F1为0.9135，作为后续基线</a:t>
            </a:r>
          </a:p>
        </p:txBody>
      </p:sp>
      <p:sp>
        <p:nvSpPr>
          <p:cNvPr id="13" name="04">
            <a:extLst>
              <a:ext uri="{FF2B5EF4-FFF2-40B4-BE49-F238E27FC236}">
                <a16:creationId xmlns:a16="http://schemas.microsoft.com/office/drawing/2014/main" id="{48116CA7-74D7-4C06-A3F8-87CED743611E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改进方向">
            <a:extLst>
              <a:ext uri="{FF2B5EF4-FFF2-40B4-BE49-F238E27FC236}">
                <a16:creationId xmlns:a16="http://schemas.microsoft.com/office/drawing/2014/main" id="{738B64B8-FAD3-48FC-8650-4570DCEE0D2A}"/>
              </a:ext>
            </a:extLst>
          </p:cNvPr>
          <p:cNvSpPr>
            <a:spLocks noGrp="1"/>
          </p:cNvSpPr>
          <p:nvPr/>
        </p:nvSpPr>
        <p:spPr>
          <a:xfrm>
            <a:off x="1609725" y="4514850"/>
            <a:ext cx="27717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改进方向</a:t>
            </a:r>
          </a:p>
        </p:txBody>
      </p:sp>
      <p:sp>
        <p:nvSpPr>
          <p:cNvPr id="15" name="结构特征小幅提升，重点复核复杂表达">
            <a:extLst>
              <a:ext uri="{FF2B5EF4-FFF2-40B4-BE49-F238E27FC236}">
                <a16:creationId xmlns:a16="http://schemas.microsoft.com/office/drawing/2014/main" id="{5E3BF1B6-7E4F-40DD-83F2-3FF4FC19078B}"/>
              </a:ext>
            </a:extLst>
          </p:cNvPr>
          <p:cNvSpPr>
            <a:spLocks noGrp="1"/>
          </p:cNvSpPr>
          <p:nvPr/>
        </p:nvSpPr>
        <p:spPr>
          <a:xfrm>
            <a:off x="4419600" y="4514850"/>
            <a:ext cx="717232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结构特征小幅提升，重点复核复杂表达</a:t>
            </a:r>
          </a:p>
        </p:txBody>
      </p:sp>
      <p:sp>
        <p:nvSpPr>
          <p:cNvPr id="16" name="下一步：独立评估 + 目标场景验证">
            <a:extLst>
              <a:ext uri="{FF2B5EF4-FFF2-40B4-BE49-F238E27FC236}">
                <a16:creationId xmlns:a16="http://schemas.microsoft.com/office/drawing/2014/main" id="{7BD1BF67-ABC8-4444-BB96-02F14C96DF26}"/>
              </a:ext>
            </a:extLst>
          </p:cNvPr>
          <p:cNvSpPr>
            <a:spLocks noGrp="1"/>
          </p:cNvSpPr>
          <p:nvPr/>
        </p:nvSpPr>
        <p:spPr>
          <a:xfrm>
            <a:off x="590550" y="569595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6C1E3"/>
                </a:solidFill>
                <a:latin typeface="Noto Sans CJK SC"/>
                <a:ea typeface="Noto Sans CJK SC"/>
                <a:cs typeface="Noto Sans CJK SC"/>
              </a:rPr>
              <a:t>下一步：独立评估 + 目标场景验证</a:t>
            </a:r>
          </a:p>
        </p:txBody>
      </p:sp>
    </p:spTree>
    <p:extLst>
      <p:ext uri="{BB962C8B-B14F-4D97-AF65-F5344CB8AC3E}">
        <p14:creationId xmlns:p14="http://schemas.microsoft.com/office/powerpoint/2010/main" val="1021056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A3ABBB-9637-A24E-D52C-04617461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6842" y="0"/>
            <a:ext cx="12058316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78C024-70AD-F664-46B6-876447BEED02}"/>
              </a:ext>
            </a:extLst>
          </p:cNvPr>
          <p:cNvSpPr/>
          <p:nvPr/>
        </p:nvSpPr>
        <p:spPr>
          <a:xfrm>
            <a:off x="4019238" y="2767280"/>
            <a:ext cx="448038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8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感谢聆听</a:t>
            </a:r>
            <a:r>
              <a:rPr lang="en-US" altLang="zh-CN" sz="8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!</a:t>
            </a:r>
            <a:endParaRPr lang="zh-CN" altLang="en-US" sz="8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69241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3860</Words>
  <Application>Microsoft Office PowerPoint</Application>
  <DocSecurity>0</DocSecurity>
  <PresentationFormat>宽屏</PresentationFormat>
  <Paragraphs>494</Paragraphs>
  <Slides>43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6" baseType="lpstr">
      <vt:lpstr>Noto Sans CJK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心而行 任</cp:lastModifiedBy>
  <cp:revision>28</cp:revision>
  <dcterms:created xsi:type="dcterms:W3CDTF">2026-09-22T06:46:13Z</dcterms:created>
  <dcterms:modified xsi:type="dcterms:W3CDTF">2026-09-23T04:55:58Z</dcterms:modified>
</cp:coreProperties>
</file>